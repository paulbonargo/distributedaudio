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114">
          <p15:clr>
            <a:srgbClr val="747775"/>
          </p15:clr>
        </p15:guide>
        <p15:guide id="2" orient="horz" pos="111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114" orient="horz"/>
        <p:guide pos="111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ee6af55a8e_0_0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" name="Google Shape;17;g3ee6af55a8e_0_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M1 was a one-way pipe; the hard part of M2 is making the round trip transparent. The middleware layer — scheduler and coordinator — is now in progress for M3. (~1:30)</a:t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f51a691b42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g3f51a691b42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M1 was a one-way pipe; the hard part of M2 is making the round trip transparent. The middleware layer — scheduler and coordinator — is now in progress for M3. (~1:30)</a:t>
            </a:r>
            <a:endParaRPr/>
          </a:p>
        </p:txBody>
      </p:sp>
      <p:sp>
        <p:nvSpPr>
          <p:cNvPr id="40" name="Google Shape;40;g3f51a691b42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51a691b42_0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3f51a691b42_0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M1 was a one-way pipe; the hard part of M2 is making the round trip transparent. The middleware layer — scheduler and coordinator — is now in progress for M3. (~1:30)</a:t>
            </a:r>
            <a:endParaRPr/>
          </a:p>
        </p:txBody>
      </p:sp>
      <p:sp>
        <p:nvSpPr>
          <p:cNvPr id="61" name="Google Shape;61;g3f51a691b42_0_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the ReceiverThread + PlaybackBuffer split mirrors M1's design — a missed audio deadline is still audible, so receiving over a socket can no more run on the audio thread than sending could. Symmetry, for the same reason. (~2:00)</a:t>
            </a:r>
            <a:endParaRPr/>
          </a:p>
        </p:txBody>
      </p:sp>
      <p:sp>
        <p:nvSpPr>
          <p:cNvPr id="80" name="Google Shape;8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 2 is the fast sanity test — if the return is audibly low-passed, it cannot be the dry signal leaking through, so the whole round trip is proven in one listen. The underrun row proves failure is graceful, not glitchy. (~1:30)</a:t>
            </a:r>
            <a:endParaRPr/>
          </a:p>
        </p:txBody>
      </p:sp>
      <p:sp>
        <p:nvSpPr>
          <p:cNvPr id="108" name="Google Shape;10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51a691b42_0_1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f51a691b42_0_1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 2 is the fast sanity test — if the return is audibly low-passed, it cannot be the dry signal leaking through, so the whole round trip is proven in one listen. The underrun row proves failure is graceful, not glitchy. (~1:30)</a:t>
            </a:r>
            <a:endParaRPr/>
          </a:p>
        </p:txBody>
      </p:sp>
      <p:sp>
        <p:nvSpPr>
          <p:cNvPr id="124" name="Google Shape;124;g3f51a691b42_0_1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M2 deliberately used a built-in DSP node to isolate the hard transport-and-latency problem; now that the round trip is transparent and in sync, M3 — the middleware layer, now in progress — can drop real plugins into the same proven pipe. (~0:45)</a:t>
            </a:r>
            <a:endParaRPr/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e6af55a8e_0_60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e6af55a8e_0_6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35858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ctrTitle"/>
          </p:nvPr>
        </p:nvSpPr>
        <p:spPr>
          <a:xfrm>
            <a:off x="544600" y="130139"/>
            <a:ext cx="8366400" cy="2882100"/>
          </a:xfrm>
          <a:prstGeom prst="rect">
            <a:avLst/>
          </a:prstGeom>
          <a:effectLst>
            <a:outerShdw blurRad="342900" rotWithShape="0" algn="bl" dir="5400000" dist="38100">
              <a:srgbClr val="2C1414"/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Distributed Audio DSP Middleware for </a:t>
            </a:r>
            <a:endParaRPr b="1">
              <a:solidFill>
                <a:srgbClr val="FCE5C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Resource-Constrained Hosts</a:t>
            </a:r>
            <a:endParaRPr b="1">
              <a:solidFill>
                <a:srgbClr val="FCE5C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" name="Google Shape;20;p4"/>
          <p:cNvSpPr txBox="1"/>
          <p:nvPr>
            <p:ph idx="1" type="subTitle"/>
          </p:nvPr>
        </p:nvSpPr>
        <p:spPr>
          <a:xfrm>
            <a:off x="544600" y="4005721"/>
            <a:ext cx="4049700" cy="811500"/>
          </a:xfrm>
          <a:prstGeom prst="rect">
            <a:avLst/>
          </a:prstGeom>
          <a:effectLst>
            <a:outerShdw blurRad="342900" rotWithShape="0" algn="bl" dir="5400000" dist="38100">
              <a:srgbClr val="000000">
                <a:alpha val="779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Paul Bonargo Jr.</a:t>
            </a:r>
            <a:endParaRPr sz="3000">
              <a:solidFill>
                <a:srgbClr val="FCE5C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288100" y="419850"/>
            <a:ext cx="70500" cy="4303800"/>
          </a:xfrm>
          <a:prstGeom prst="rect">
            <a:avLst/>
          </a:prstGeom>
          <a:solidFill>
            <a:srgbClr val="4C22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 flipH="1" rot="5400000">
            <a:off x="4612900" y="-96125"/>
            <a:ext cx="27600" cy="80568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4594300" y="4014472"/>
            <a:ext cx="4049700" cy="736200"/>
          </a:xfrm>
          <a:prstGeom prst="rect">
            <a:avLst/>
          </a:prstGeom>
          <a:effectLst>
            <a:outerShdw blurRad="342900" rotWithShape="0" algn="bl" dir="5400000" dist="38100">
              <a:srgbClr val="000000">
                <a:alpha val="779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-US" sz="1700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M.S. Computer Science </a:t>
            </a:r>
            <a:endParaRPr sz="1700">
              <a:solidFill>
                <a:srgbClr val="FCE5C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-US" sz="1700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Rochester Institute of Technology</a:t>
            </a:r>
            <a:endParaRPr sz="1700">
              <a:solidFill>
                <a:srgbClr val="FCE5C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" name="Google Shape;24;p4"/>
          <p:cNvSpPr txBox="1"/>
          <p:nvPr>
            <p:ph type="ctrTitle"/>
          </p:nvPr>
        </p:nvSpPr>
        <p:spPr>
          <a:xfrm>
            <a:off x="544600" y="2746558"/>
            <a:ext cx="4344000" cy="102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Milestone 3</a:t>
            </a:r>
            <a:endParaRPr b="1" sz="4200">
              <a:solidFill>
                <a:srgbClr val="4C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>
            <a:off x="502920" y="20116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5858"/>
              </a:buClr>
              <a:buSzPts val="3200"/>
              <a:buFont typeface="Times New Roman"/>
              <a:buNone/>
            </a:pPr>
            <a:r>
              <a:rPr b="1" lang="en-US" sz="3200">
                <a:solidFill>
                  <a:srgbClr val="C3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Status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502925" y="1126072"/>
            <a:ext cx="8138100" cy="20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4C2222"/>
              </a:buClr>
              <a:buSzPts val="1700"/>
              <a:buFont typeface="Times New Roman"/>
              <a:buChar char="–"/>
            </a:pPr>
            <a:r>
              <a:rPr lang="en-US" sz="1700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milestone, the Python node became a native C++/JUCE service, and a reliable TCP control plane now connects host and node, with automatic reconnection</a:t>
            </a:r>
            <a:endParaRPr sz="1700">
              <a:solidFill>
                <a:srgbClr val="4C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4C2222"/>
              </a:buClr>
              <a:buSzPts val="1700"/>
              <a:buFont typeface="Times New Roman"/>
              <a:buChar char="–"/>
            </a:pPr>
            <a:r>
              <a:rPr lang="en-US" sz="1700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Hosting real VST3s moved intact to Milestone 3+ its two prerequisites are built and validated</a:t>
            </a:r>
            <a:endParaRPr sz="1700">
              <a:solidFill>
                <a:srgbClr val="4C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4C2222"/>
              </a:buClr>
              <a:buSzPts val="1700"/>
              <a:buFont typeface="Times New Roman"/>
              <a:buChar char="–"/>
            </a:pPr>
            <a:r>
              <a:rPr lang="en-US" sz="1700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 unchanged: offload real-time plugin DSP to Local, LAN, and Cloud processing nodes</a:t>
            </a:r>
            <a:endParaRPr sz="1700">
              <a:solidFill>
                <a:srgbClr val="4C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2" name="Google Shape;32;p5"/>
          <p:cNvCxnSpPr/>
          <p:nvPr/>
        </p:nvCxnSpPr>
        <p:spPr>
          <a:xfrm>
            <a:off x="548640" y="896112"/>
            <a:ext cx="8092500" cy="0"/>
          </a:xfrm>
          <a:prstGeom prst="straightConnector1">
            <a:avLst/>
          </a:prstGeom>
          <a:noFill/>
          <a:ln cap="flat" cmpd="sng" w="38100">
            <a:solidFill>
              <a:srgbClr val="4C22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5"/>
          <p:cNvSpPr/>
          <p:nvPr/>
        </p:nvSpPr>
        <p:spPr>
          <a:xfrm>
            <a:off x="450000" y="3517500"/>
            <a:ext cx="1959900" cy="1073400"/>
          </a:xfrm>
          <a:prstGeom prst="roundRect">
            <a:avLst>
              <a:gd fmla="val 0" name="adj"/>
            </a:avLst>
          </a:prstGeom>
          <a:solidFill>
            <a:srgbClr val="4C2222"/>
          </a:solidFill>
          <a:ln cap="flat" cmpd="sng" w="38100">
            <a:solidFill>
              <a:srgbClr val="C358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Milestone 1</a:t>
            </a:r>
            <a:endParaRPr sz="17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FF3E6"/>
                </a:solidFill>
                <a:latin typeface="Arial"/>
                <a:ea typeface="Arial"/>
                <a:cs typeface="Arial"/>
                <a:sym typeface="Arial"/>
              </a:rPr>
              <a:t>one-way transport</a:t>
            </a:r>
            <a:endParaRPr sz="1700">
              <a:solidFill>
                <a:srgbClr val="FFF3E6"/>
              </a:solidFill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2546000" y="3517500"/>
            <a:ext cx="1959900" cy="1073400"/>
          </a:xfrm>
          <a:prstGeom prst="roundRect">
            <a:avLst>
              <a:gd fmla="val 0" name="adj"/>
            </a:avLst>
          </a:prstGeom>
          <a:solidFill>
            <a:srgbClr val="4C2222"/>
          </a:solidFill>
          <a:ln cap="flat" cmpd="sng" w="38100">
            <a:solidFill>
              <a:srgbClr val="C358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Milestone 2</a:t>
            </a:r>
            <a:endParaRPr sz="17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FF3E6"/>
                </a:solidFill>
                <a:latin typeface="Arial"/>
                <a:ea typeface="Arial"/>
                <a:cs typeface="Arial"/>
                <a:sym typeface="Arial"/>
              </a:rPr>
              <a:t>processed round-trip</a:t>
            </a:r>
            <a:endParaRPr sz="1700">
              <a:solidFill>
                <a:srgbClr val="FFF3E6"/>
              </a:solidFill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4642000" y="3517500"/>
            <a:ext cx="1959900" cy="1073400"/>
          </a:xfrm>
          <a:prstGeom prst="roundRect">
            <a:avLst>
              <a:gd fmla="val 0" name="adj"/>
            </a:avLst>
          </a:prstGeom>
          <a:solidFill>
            <a:srgbClr val="C35858"/>
          </a:solidFill>
          <a:ln cap="flat" cmpd="sng" w="38100">
            <a:solidFill>
              <a:srgbClr val="4C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Milestone 3</a:t>
            </a:r>
            <a:endParaRPr sz="1700"/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C1414"/>
                </a:solidFill>
                <a:latin typeface="Arial"/>
                <a:ea typeface="Arial"/>
                <a:cs typeface="Arial"/>
                <a:sym typeface="Arial"/>
              </a:rPr>
              <a:t>node + control plane</a:t>
            </a:r>
            <a:endParaRPr sz="1700">
              <a:solidFill>
                <a:srgbClr val="2C1414"/>
              </a:solidFill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6738000" y="3517500"/>
            <a:ext cx="1959900" cy="1073400"/>
          </a:xfrm>
          <a:prstGeom prst="roundRect">
            <a:avLst>
              <a:gd fmla="val 0" name="adj"/>
            </a:avLst>
          </a:prstGeom>
          <a:solidFill>
            <a:srgbClr val="FFF3E6"/>
          </a:solidFill>
          <a:ln cap="flat" cmpd="sng" w="38100">
            <a:solidFill>
              <a:srgbClr val="C358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Milestone </a:t>
            </a:r>
            <a:r>
              <a:rPr b="1" lang="en-US" sz="1500"/>
              <a:t>3</a:t>
            </a:r>
            <a:r>
              <a:rPr b="1" lang="en-US" sz="1500"/>
              <a:t>+</a:t>
            </a:r>
            <a:endParaRPr sz="1700"/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4C2222"/>
                </a:solidFill>
              </a:rPr>
              <a:t>complete </a:t>
            </a:r>
            <a:r>
              <a:rPr i="0" lang="en-US" sz="1250" u="none" cap="none" strike="noStrike">
                <a:solidFill>
                  <a:srgbClr val="4C2222"/>
                </a:solidFill>
              </a:rPr>
              <a:t>VST3 hosting</a:t>
            </a:r>
            <a:endParaRPr sz="1700">
              <a:solidFill>
                <a:srgbClr val="4C222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/>
          <p:nvPr/>
        </p:nvSpPr>
        <p:spPr>
          <a:xfrm>
            <a:off x="2947000" y="1523227"/>
            <a:ext cx="3249900" cy="1815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4C2222"/>
          </a:solidFill>
          <a:ln cap="flat" cmpd="sng" w="12700">
            <a:solidFill>
              <a:srgbClr val="C358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" name="Google Shape;43;p6"/>
          <p:cNvSpPr/>
          <p:nvPr/>
        </p:nvSpPr>
        <p:spPr>
          <a:xfrm>
            <a:off x="2947000" y="1716035"/>
            <a:ext cx="3249900" cy="7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i="0" lang="en-US" sz="1100" u="none" cap="none" strike="noStrike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irect </a:t>
            </a:r>
            <a:r>
              <a:rPr lang="en-US" sz="1100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i="0" lang="en-US" sz="1100" u="none" cap="none" strike="noStrike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eer </a:t>
            </a:r>
            <a:r>
              <a:rPr lang="en-US" sz="1100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i="0" lang="en-US" sz="1100" u="none" cap="none" strike="noStrike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onnectio</a:t>
            </a:r>
            <a:r>
              <a:rPr lang="en-US" sz="1100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100">
              <a:solidFill>
                <a:srgbClr val="2C141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1000"/>
              </a:spcAft>
              <a:buNone/>
            </a:pPr>
            <a:r>
              <a:rPr i="0" lang="en-US" sz="1100" u="none" cap="none" strike="noStrike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audio (UDP :9000/:9001) </a:t>
            </a:r>
            <a:br>
              <a:rPr lang="en-US" sz="1100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100" u="none" cap="none" strike="noStrike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control (TCP :9100)</a:t>
            </a:r>
            <a:endParaRPr sz="1700">
              <a:solidFill>
                <a:srgbClr val="2C141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6297000" y="2924997"/>
            <a:ext cx="2400000" cy="634500"/>
          </a:xfrm>
          <a:prstGeom prst="roundRect">
            <a:avLst>
              <a:gd fmla="val 0" name="adj"/>
            </a:avLst>
          </a:prstGeom>
          <a:solidFill>
            <a:srgbClr val="FFF3E6"/>
          </a:solidFill>
          <a:ln cap="flat" cmpd="sng" w="12700">
            <a:solidFill>
              <a:srgbClr val="4C222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</a:t>
            </a:r>
            <a:r>
              <a:rPr b="1" lang="en-US" sz="1300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1" i="0" lang="en-US" sz="1300" u="none" cap="none" strike="noStrike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eer</a:t>
            </a:r>
            <a:endParaRPr sz="1700">
              <a:solidFill>
                <a:srgbClr val="2C141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license-aware offload</a:t>
            </a:r>
            <a:endParaRPr sz="1700">
              <a:solidFill>
                <a:srgbClr val="2C141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502920" y="201168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5858"/>
              </a:buClr>
              <a:buSzPts val="3200"/>
              <a:buFont typeface="Times New Roman"/>
              <a:buNone/>
            </a:pPr>
            <a:r>
              <a:rPr b="1" lang="en-US" sz="3200">
                <a:solidFill>
                  <a:srgbClr val="C3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Design</a:t>
            </a:r>
            <a:r>
              <a:rPr b="1" lang="en-US" sz="3200">
                <a:solidFill>
                  <a:srgbClr val="C3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b="1" lang="en-US" sz="3200">
                <a:solidFill>
                  <a:srgbClr val="C3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Peer-to-Peer, LAN-First</a:t>
            </a:r>
            <a:endParaRPr b="1" sz="3200">
              <a:solidFill>
                <a:srgbClr val="C358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548640" y="896112"/>
            <a:ext cx="8092500" cy="0"/>
          </a:xfrm>
          <a:prstGeom prst="straightConnector1">
            <a:avLst/>
          </a:prstGeom>
          <a:noFill/>
          <a:ln cap="flat" cmpd="sng" w="38100">
            <a:solidFill>
              <a:srgbClr val="4C22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p6"/>
          <p:cNvSpPr/>
          <p:nvPr/>
        </p:nvSpPr>
        <p:spPr>
          <a:xfrm>
            <a:off x="447000" y="1293124"/>
            <a:ext cx="2400000" cy="2266500"/>
          </a:xfrm>
          <a:prstGeom prst="roundRect">
            <a:avLst>
              <a:gd fmla="val 0" name="adj"/>
            </a:avLst>
          </a:prstGeom>
          <a:solidFill>
            <a:srgbClr val="4C2222"/>
          </a:solidFill>
          <a:ln cap="flat" cmpd="sng" w="12700">
            <a:solidFill>
              <a:srgbClr val="2750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DAW HOST</a:t>
            </a:r>
            <a:endParaRPr>
              <a:solidFill>
                <a:srgbClr val="FFF3E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647000" y="1731774"/>
            <a:ext cx="2000100" cy="725400"/>
          </a:xfrm>
          <a:prstGeom prst="roundRect">
            <a:avLst>
              <a:gd fmla="val 0" name="adj"/>
            </a:avLst>
          </a:prstGeom>
          <a:solidFill>
            <a:srgbClr val="C35858"/>
          </a:solidFill>
          <a:ln cap="flat" cmpd="sng" w="12700">
            <a:solidFill>
              <a:srgbClr val="C358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VST3 send/return</a:t>
            </a:r>
            <a:endParaRPr sz="1900">
              <a:solidFill>
                <a:srgbClr val="FFF3E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standalone </a:t>
            </a:r>
            <a:r>
              <a:rPr i="0" lang="en-US" sz="1150" u="none" cap="none" strike="noStrike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plugin</a:t>
            </a:r>
            <a:endParaRPr sz="1600">
              <a:solidFill>
                <a:srgbClr val="4C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647000" y="2622151"/>
            <a:ext cx="2000100" cy="725400"/>
          </a:xfrm>
          <a:prstGeom prst="roundRect">
            <a:avLst>
              <a:gd fmla="val 0" name="adj"/>
            </a:avLst>
          </a:prstGeom>
          <a:solidFill>
            <a:srgbClr val="C35858"/>
          </a:solidFill>
          <a:ln cap="flat" cmpd="sng" w="12700">
            <a:solidFill>
              <a:srgbClr val="C358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Ableton Live 12</a:t>
            </a:r>
            <a:endParaRPr b="1" i="0" sz="1450" u="none" cap="none" strike="noStrike">
              <a:solidFill>
                <a:srgbClr val="FFF3E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integrated plugin</a:t>
            </a:r>
            <a:endParaRPr sz="1150">
              <a:solidFill>
                <a:srgbClr val="4C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6297000" y="1293124"/>
            <a:ext cx="2400000" cy="634500"/>
          </a:xfrm>
          <a:prstGeom prst="roundRect">
            <a:avLst>
              <a:gd fmla="val 0" name="adj"/>
            </a:avLst>
          </a:prstGeom>
          <a:solidFill>
            <a:srgbClr val="C35858"/>
          </a:solidFill>
          <a:ln cap="flat" cmpd="sng" w="12700">
            <a:solidFill>
              <a:srgbClr val="4C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 </a:t>
            </a:r>
            <a:r>
              <a:rPr b="1" lang="en-US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1" i="0" lang="en-US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eer</a:t>
            </a:r>
            <a:endParaRPr sz="1800">
              <a:solidFill>
                <a:srgbClr val="FFF3E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same-machine node</a:t>
            </a:r>
            <a:endParaRPr sz="1800">
              <a:solidFill>
                <a:srgbClr val="FFF3E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6297000" y="2109061"/>
            <a:ext cx="2400000" cy="634500"/>
          </a:xfrm>
          <a:prstGeom prst="roundRect">
            <a:avLst>
              <a:gd fmla="val 0" name="adj"/>
            </a:avLst>
          </a:prstGeom>
          <a:solidFill>
            <a:srgbClr val="C35858"/>
          </a:solidFill>
          <a:ln cap="flat" cmpd="sng" w="19050">
            <a:solidFill>
              <a:srgbClr val="4C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 </a:t>
            </a:r>
            <a:r>
              <a:rPr b="1" lang="en-US" sz="1300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1" i="0" lang="en-US" sz="130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eer</a:t>
            </a:r>
            <a:r>
              <a:rPr b="1" lang="en-US" sz="1300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b="1" i="0" lang="en-US" sz="130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C++/JUCE node</a:t>
            </a:r>
            <a:endParaRPr sz="1700">
              <a:solidFill>
                <a:srgbClr val="FFF3E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i="0" lang="en-US" sz="115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validated: echo engine + live counters</a:t>
            </a:r>
            <a:endParaRPr sz="1700">
              <a:solidFill>
                <a:srgbClr val="FFF3E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2947000" y="2335709"/>
            <a:ext cx="3249900" cy="1815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4C2222"/>
          </a:solidFill>
          <a:ln cap="flat" cmpd="sng" w="12700">
            <a:solidFill>
              <a:srgbClr val="C358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2947000" y="3151646"/>
            <a:ext cx="3249900" cy="1815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FFF3E6"/>
          </a:solidFill>
          <a:ln cap="flat" cmpd="sng" w="12700">
            <a:solidFill>
              <a:srgbClr val="4C222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2C141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1196550" y="3740950"/>
            <a:ext cx="6750900" cy="725400"/>
          </a:xfrm>
          <a:prstGeom prst="roundRect">
            <a:avLst>
              <a:gd fmla="val 0" name="adj"/>
            </a:avLst>
          </a:prstGeom>
          <a:solidFill>
            <a:srgbClr val="4C2222"/>
          </a:solidFill>
          <a:ln cap="flat" cmpd="sng" w="19050">
            <a:solidFill>
              <a:srgbClr val="4C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i="0" lang="en-US" sz="170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COORDINATION</a:t>
            </a:r>
            <a:endParaRPr sz="2100">
              <a:solidFill>
                <a:srgbClr val="FFF3E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3529346" y="3899575"/>
            <a:ext cx="1230000" cy="408000"/>
          </a:xfrm>
          <a:prstGeom prst="roundRect">
            <a:avLst>
              <a:gd fmla="val 0" name="adj"/>
            </a:avLst>
          </a:prstGeom>
          <a:solidFill>
            <a:srgbClr val="C35858"/>
          </a:solidFill>
          <a:ln cap="flat" cmpd="sng" w="12700">
            <a:solidFill>
              <a:srgbClr val="C358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2F7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plane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5002866" y="3899575"/>
            <a:ext cx="1230000" cy="408000"/>
          </a:xfrm>
          <a:prstGeom prst="roundRect">
            <a:avLst>
              <a:gd fmla="val 0" name="adj"/>
            </a:avLst>
          </a:prstGeom>
          <a:solidFill>
            <a:srgbClr val="2C1414"/>
          </a:solidFill>
          <a:ln cap="flat" cmpd="sng" w="12700">
            <a:solidFill>
              <a:srgbClr val="FFF3E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5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scheduler</a:t>
            </a:r>
            <a:endParaRPr sz="2000">
              <a:solidFill>
                <a:srgbClr val="FFF3E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6476385" y="3899575"/>
            <a:ext cx="1230000" cy="408000"/>
          </a:xfrm>
          <a:prstGeom prst="roundRect">
            <a:avLst>
              <a:gd fmla="val 0" name="adj"/>
            </a:avLst>
          </a:prstGeom>
          <a:solidFill>
            <a:srgbClr val="2C1414"/>
          </a:solidFill>
          <a:ln cap="flat" cmpd="sng" w="12700">
            <a:solidFill>
              <a:srgbClr val="FFF3E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5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failover</a:t>
            </a:r>
            <a:endParaRPr sz="2000">
              <a:solidFill>
                <a:srgbClr val="FFF3E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/>
          <p:nvPr/>
        </p:nvSpPr>
        <p:spPr>
          <a:xfrm>
            <a:off x="502920" y="201168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5858"/>
              </a:buClr>
              <a:buSzPts val="3200"/>
              <a:buFont typeface="Times New Roman"/>
              <a:buNone/>
            </a:pPr>
            <a:r>
              <a:rPr b="1" lang="en-US" sz="3200">
                <a:solidFill>
                  <a:srgbClr val="C3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Planes: Audio in UDP, Control in TCP</a:t>
            </a:r>
            <a:endParaRPr b="1" sz="3200">
              <a:solidFill>
                <a:srgbClr val="C358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4" name="Google Shape;64;p7"/>
          <p:cNvCxnSpPr/>
          <p:nvPr/>
        </p:nvCxnSpPr>
        <p:spPr>
          <a:xfrm>
            <a:off x="548640" y="896112"/>
            <a:ext cx="8092500" cy="0"/>
          </a:xfrm>
          <a:prstGeom prst="straightConnector1">
            <a:avLst/>
          </a:prstGeom>
          <a:noFill/>
          <a:ln cap="flat" cmpd="sng" w="38100">
            <a:solidFill>
              <a:srgbClr val="4C22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7"/>
          <p:cNvSpPr/>
          <p:nvPr/>
        </p:nvSpPr>
        <p:spPr>
          <a:xfrm>
            <a:off x="450000" y="1252400"/>
            <a:ext cx="2499900" cy="3200100"/>
          </a:xfrm>
          <a:prstGeom prst="roundRect">
            <a:avLst>
              <a:gd fmla="val 0" name="adj"/>
            </a:avLst>
          </a:prstGeom>
          <a:solidFill>
            <a:srgbClr val="4C2222"/>
          </a:solidFill>
          <a:ln cap="flat" cmpd="sng" w="12700">
            <a:solidFill>
              <a:srgbClr val="4C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DAW HOST</a:t>
            </a:r>
            <a:endParaRPr sz="1800">
              <a:solidFill>
                <a:srgbClr val="FFF3E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650000" y="1849530"/>
            <a:ext cx="2100000" cy="969600"/>
          </a:xfrm>
          <a:prstGeom prst="roundRect">
            <a:avLst>
              <a:gd fmla="val 0" name="adj"/>
            </a:avLst>
          </a:prstGeom>
          <a:solidFill>
            <a:srgbClr val="C35858"/>
          </a:solidFill>
          <a:ln cap="flat" cmpd="sng" w="12700">
            <a:solidFill>
              <a:srgbClr val="C358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VST3 send/return</a:t>
            </a:r>
            <a:endParaRPr sz="1800">
              <a:solidFill>
                <a:srgbClr val="FFF3E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plugin</a:t>
            </a:r>
            <a:endParaRPr sz="1800">
              <a:solidFill>
                <a:srgbClr val="FFF3E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650000" y="3061307"/>
            <a:ext cx="2100000" cy="848100"/>
          </a:xfrm>
          <a:prstGeom prst="roundRect">
            <a:avLst>
              <a:gd fmla="val 0" name="adj"/>
            </a:avLst>
          </a:prstGeom>
          <a:solidFill>
            <a:srgbClr val="C35858"/>
          </a:solidFill>
          <a:ln cap="flat" cmpd="sng" w="12700">
            <a:solidFill>
              <a:srgbClr val="C358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Ableton Live 12</a:t>
            </a:r>
            <a:endParaRPr sz="1800">
              <a:solidFill>
                <a:srgbClr val="FFF3E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6194000" y="1252400"/>
            <a:ext cx="2499900" cy="3200100"/>
          </a:xfrm>
          <a:prstGeom prst="roundRect">
            <a:avLst>
              <a:gd fmla="val 0" name="adj"/>
            </a:avLst>
          </a:prstGeom>
          <a:solidFill>
            <a:srgbClr val="4C2222"/>
          </a:solidFill>
          <a:ln cap="flat" cmpd="sng" w="12700">
            <a:solidFill>
              <a:srgbClr val="4C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PROCESSING NODE</a:t>
            </a:r>
            <a:endParaRPr sz="1800">
              <a:solidFill>
                <a:srgbClr val="FFF3E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6394000" y="1849530"/>
            <a:ext cx="2100000" cy="969600"/>
          </a:xfrm>
          <a:prstGeom prst="roundRect">
            <a:avLst>
              <a:gd fmla="val 0" name="adj"/>
            </a:avLst>
          </a:prstGeom>
          <a:solidFill>
            <a:srgbClr val="C35858"/>
          </a:solidFill>
          <a:ln cap="flat" cmpd="sng" w="12700">
            <a:solidFill>
              <a:srgbClr val="C358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C++/JUCE</a:t>
            </a:r>
            <a:endParaRPr sz="1800">
              <a:solidFill>
                <a:srgbClr val="FFF3E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echo engine</a:t>
            </a:r>
            <a:endParaRPr sz="1800">
              <a:solidFill>
                <a:srgbClr val="FFF3E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6394000" y="3061307"/>
            <a:ext cx="2100000" cy="848100"/>
          </a:xfrm>
          <a:prstGeom prst="roundRect">
            <a:avLst>
              <a:gd fmla="val 0" name="adj"/>
            </a:avLst>
          </a:prstGeom>
          <a:noFill/>
          <a:ln cap="flat" cmpd="sng" w="12700">
            <a:solidFill>
              <a:srgbClr val="FFF3E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hosted VST3 </a:t>
            </a:r>
            <a:r>
              <a:rPr lang="en-US" sz="1350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i="0" lang="en-US" sz="135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350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M3+</a:t>
            </a:r>
            <a:endParaRPr sz="1800">
              <a:solidFill>
                <a:srgbClr val="FFF3E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3050000" y="1383835"/>
            <a:ext cx="30441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3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dry audio </a:t>
            </a:r>
            <a:r>
              <a:rPr b="1" lang="en-US" sz="1300">
                <a:solidFill>
                  <a:srgbClr val="C3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b="1" i="0" lang="en-US" sz="1300" u="none" cap="none" strike="noStrike">
                <a:solidFill>
                  <a:srgbClr val="C3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UDP :9000</a:t>
            </a:r>
            <a:endParaRPr b="1" sz="1700">
              <a:solidFill>
                <a:srgbClr val="C358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3050000" y="1632400"/>
            <a:ext cx="3044100" cy="27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585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3050000" y="2383835"/>
            <a:ext cx="30441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3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processed audio </a:t>
            </a:r>
            <a:r>
              <a:rPr b="1" lang="en-US" sz="1300">
                <a:solidFill>
                  <a:srgbClr val="C3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b="1" i="0" lang="en-US" sz="1300" u="none" cap="none" strike="noStrike">
                <a:solidFill>
                  <a:srgbClr val="C3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UDP :9001</a:t>
            </a:r>
            <a:endParaRPr b="1" sz="1700">
              <a:solidFill>
                <a:srgbClr val="C358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3050000" y="2632400"/>
            <a:ext cx="3044100" cy="2799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C3585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3050000" y="3483835"/>
            <a:ext cx="30441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</a:t>
            </a:r>
            <a:r>
              <a:rPr b="1" lang="en-US" sz="1300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b="1" i="0" lang="en-US" sz="1300" u="none" cap="none" strike="noStrike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TCP :9100 </a:t>
            </a:r>
            <a:r>
              <a:rPr b="1" lang="en-US" sz="1300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0" lang="en-US" sz="1300" u="none" cap="none" strike="noStrike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JSON)</a:t>
            </a:r>
            <a:endParaRPr b="1" sz="1700">
              <a:solidFill>
                <a:srgbClr val="4C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3050000" y="3732400"/>
            <a:ext cx="3044100" cy="2799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4C2222"/>
          </a:solidFill>
          <a:ln cap="flat" cmpd="sng" w="12700">
            <a:solidFill>
              <a:srgbClr val="4C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C222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/>
          <p:nvPr/>
        </p:nvSpPr>
        <p:spPr>
          <a:xfrm>
            <a:off x="502920" y="20116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5858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Deliverable: Reliable TCP Control Plane</a:t>
            </a:r>
            <a:endParaRPr b="1" sz="2600">
              <a:solidFill>
                <a:srgbClr val="FCE5C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3" name="Google Shape;83;p8"/>
          <p:cNvCxnSpPr/>
          <p:nvPr/>
        </p:nvCxnSpPr>
        <p:spPr>
          <a:xfrm>
            <a:off x="548640" y="896112"/>
            <a:ext cx="8092500" cy="0"/>
          </a:xfrm>
          <a:prstGeom prst="straightConnector1">
            <a:avLst/>
          </a:prstGeom>
          <a:noFill/>
          <a:ln cap="flat" cmpd="sng" w="38100">
            <a:solidFill>
              <a:srgbClr val="C3585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8"/>
          <p:cNvSpPr/>
          <p:nvPr/>
        </p:nvSpPr>
        <p:spPr>
          <a:xfrm>
            <a:off x="566600" y="1026200"/>
            <a:ext cx="1700100" cy="399900"/>
          </a:xfrm>
          <a:prstGeom prst="roundRect">
            <a:avLst>
              <a:gd fmla="val 0" name="adj"/>
            </a:avLst>
          </a:prstGeom>
          <a:solidFill>
            <a:srgbClr val="FFF3E6"/>
          </a:solidFill>
          <a:ln cap="flat" cmpd="sng" w="12700">
            <a:solidFill>
              <a:srgbClr val="FFF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Plugin (host)</a:t>
            </a:r>
            <a:endParaRPr sz="1700">
              <a:solidFill>
                <a:srgbClr val="4C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3766600" y="1026200"/>
            <a:ext cx="1700100" cy="399900"/>
          </a:xfrm>
          <a:prstGeom prst="roundRect">
            <a:avLst>
              <a:gd fmla="val 0" name="adj"/>
            </a:avLst>
          </a:prstGeom>
          <a:solidFill>
            <a:srgbClr val="FFF3E6"/>
          </a:solidFill>
          <a:ln cap="flat" cmpd="sng" w="12700">
            <a:solidFill>
              <a:srgbClr val="FFF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</a:t>
            </a:r>
            <a:endParaRPr sz="1650">
              <a:solidFill>
                <a:srgbClr val="4C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6" name="Google Shape;86;p8"/>
          <p:cNvCxnSpPr/>
          <p:nvPr/>
        </p:nvCxnSpPr>
        <p:spPr>
          <a:xfrm>
            <a:off x="1416600" y="1426200"/>
            <a:ext cx="0" cy="3500100"/>
          </a:xfrm>
          <a:prstGeom prst="straightConnector1">
            <a:avLst/>
          </a:prstGeom>
          <a:noFill/>
          <a:ln cap="flat" cmpd="sng" w="38100">
            <a:solidFill>
              <a:srgbClr val="C3585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" name="Google Shape;87;p8"/>
          <p:cNvCxnSpPr/>
          <p:nvPr/>
        </p:nvCxnSpPr>
        <p:spPr>
          <a:xfrm>
            <a:off x="4616600" y="1426200"/>
            <a:ext cx="0" cy="2450100"/>
          </a:xfrm>
          <a:prstGeom prst="straightConnector1">
            <a:avLst/>
          </a:prstGeom>
          <a:noFill/>
          <a:ln cap="flat" cmpd="sng" w="38100">
            <a:solidFill>
              <a:srgbClr val="C3585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" name="Google Shape;88;p8"/>
          <p:cNvCxnSpPr/>
          <p:nvPr/>
        </p:nvCxnSpPr>
        <p:spPr>
          <a:xfrm>
            <a:off x="4616600" y="4226200"/>
            <a:ext cx="0" cy="699900"/>
          </a:xfrm>
          <a:prstGeom prst="straightConnector1">
            <a:avLst/>
          </a:prstGeom>
          <a:noFill/>
          <a:ln cap="flat" cmpd="sng" w="38100">
            <a:solidFill>
              <a:srgbClr val="8AA0A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8"/>
          <p:cNvSpPr/>
          <p:nvPr/>
        </p:nvSpPr>
        <p:spPr>
          <a:xfrm>
            <a:off x="1516600" y="1569553"/>
            <a:ext cx="3000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HELLO </a:t>
            </a:r>
            <a:r>
              <a:rPr lang="en-US" sz="1100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i="0" lang="en-US" sz="110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sample rate, block size</a:t>
            </a:r>
            <a:endParaRPr sz="1600">
              <a:solidFill>
                <a:srgbClr val="FFF3E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1516600" y="1790976"/>
            <a:ext cx="3000000" cy="9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3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1516600" y="2049553"/>
            <a:ext cx="3000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HELLO_ACK  +  PLUGIN_LIST</a:t>
            </a:r>
            <a:endParaRPr sz="1600">
              <a:solidFill>
                <a:srgbClr val="FFF3E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1516600" y="2270976"/>
            <a:ext cx="3000000" cy="999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F3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1516600" y="2681953"/>
            <a:ext cx="3000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SELECT_PLUGIN</a:t>
            </a:r>
            <a:endParaRPr sz="1600">
              <a:solidFill>
                <a:srgbClr val="FFF3E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1516600" y="2903376"/>
            <a:ext cx="3000000" cy="9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3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1516600" y="3161953"/>
            <a:ext cx="3000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PLUGIN_SELECTED </a:t>
            </a:r>
            <a:r>
              <a:rPr lang="en-US" sz="1100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i="0" lang="en-US" sz="110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parameter</a:t>
            </a:r>
            <a:r>
              <a:rPr lang="en-US" sz="1100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and</a:t>
            </a:r>
            <a:r>
              <a:rPr i="0" lang="en-US" sz="110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latency</a:t>
            </a:r>
            <a:endParaRPr sz="1600">
              <a:solidFill>
                <a:srgbClr val="FFF3E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1516600" y="3383376"/>
            <a:ext cx="3000000" cy="999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F3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1516600" y="3718153"/>
            <a:ext cx="3000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SET_PARAM (fire-and-forget)</a:t>
            </a:r>
            <a:endParaRPr sz="1600">
              <a:solidFill>
                <a:srgbClr val="FFF3E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8"/>
          <p:cNvSpPr/>
          <p:nvPr/>
        </p:nvSpPr>
        <p:spPr>
          <a:xfrm>
            <a:off x="1516600" y="3939576"/>
            <a:ext cx="3000000" cy="9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3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4890883" y="4287200"/>
            <a:ext cx="11001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0" u="none" cap="none" strike="noStrike">
                <a:solidFill>
                  <a:srgbClr val="E06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 killed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1516600" y="4478600"/>
            <a:ext cx="3000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FBF7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s retry</a:t>
            </a:r>
            <a:r>
              <a:rPr b="1" lang="en-US" sz="1100">
                <a:solidFill>
                  <a:srgbClr val="6FBF7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1" i="0" lang="en-US" sz="1100" u="none" cap="none" strike="noStrike">
                <a:solidFill>
                  <a:srgbClr val="6FBF7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reconnected in &lt; 2 s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1516600" y="4738600"/>
            <a:ext cx="3000000" cy="9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E4D36"/>
          </a:solidFill>
          <a:ln cap="flat" cmpd="sng" w="12700">
            <a:solidFill>
              <a:srgbClr val="6FBF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5286675" y="1768950"/>
            <a:ext cx="3509700" cy="35001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3E6"/>
              </a:buClr>
              <a:buSzPts val="1600"/>
              <a:buFont typeface="Times New Roman"/>
              <a:buChar char="-"/>
            </a:pPr>
            <a:r>
              <a:rPr i="0" lang="en-US" sz="160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must never drop</a:t>
            </a:r>
            <a:endParaRPr sz="1600">
              <a:solidFill>
                <a:srgbClr val="FFF3E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3E6"/>
              </a:buClr>
              <a:buSzPts val="1600"/>
              <a:buFont typeface="Times New Roman"/>
              <a:buChar char="-"/>
            </a:pPr>
            <a:r>
              <a:rPr i="0" lang="en-US" sz="160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audio must never wait</a:t>
            </a:r>
            <a:r>
              <a:rPr lang="en-US" sz="1600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so</a:t>
            </a:r>
            <a:r>
              <a:rPr i="0" lang="en-US" sz="160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stays on UDP</a:t>
            </a:r>
            <a:endParaRPr sz="1600">
              <a:solidFill>
                <a:srgbClr val="FFF3E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3E6"/>
              </a:buClr>
              <a:buSzPts val="1600"/>
              <a:buFont typeface="Times New Roman"/>
              <a:buChar char="-"/>
            </a:pPr>
            <a:r>
              <a:rPr i="0" lang="en-US" sz="160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length-framed JSON messages</a:t>
            </a:r>
            <a:endParaRPr sz="1600">
              <a:solidFill>
                <a:srgbClr val="FFF3E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3E6"/>
              </a:buClr>
              <a:buSzPts val="1600"/>
              <a:buFont typeface="Times New Roman"/>
              <a:buChar char="-"/>
            </a:pPr>
            <a:r>
              <a:rPr i="0" lang="en-US" sz="160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 retargets audio </a:t>
            </a:r>
            <a:r>
              <a:rPr lang="en-US" sz="1600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i="0" lang="en-US" sz="160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at runtime</a:t>
            </a:r>
            <a:r>
              <a:rPr lang="en-US" sz="1600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i="0" lang="en-US" sz="160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 rebuild</a:t>
            </a:r>
            <a:endParaRPr sz="1600">
              <a:solidFill>
                <a:srgbClr val="FFF3E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FFF3E6"/>
              </a:buClr>
              <a:buSzPts val="1600"/>
              <a:buFont typeface="Times New Roman"/>
              <a:buChar char="-"/>
            </a:pPr>
            <a:r>
              <a:rPr i="0" lang="en-US" sz="160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auto-reconnect validated at ~1</a:t>
            </a:r>
            <a:r>
              <a:rPr lang="en-US" sz="1600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i="0" lang="en-US" sz="160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s</a:t>
            </a:r>
            <a:endParaRPr sz="2000">
              <a:solidFill>
                <a:srgbClr val="FFF3E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3" name="Google Shape;103;p8"/>
          <p:cNvCxnSpPr/>
          <p:nvPr/>
        </p:nvCxnSpPr>
        <p:spPr>
          <a:xfrm>
            <a:off x="4616600" y="1900069"/>
            <a:ext cx="0" cy="2450100"/>
          </a:xfrm>
          <a:prstGeom prst="straightConnector1">
            <a:avLst/>
          </a:prstGeom>
          <a:noFill/>
          <a:ln cap="flat" cmpd="sng" w="38100">
            <a:solidFill>
              <a:srgbClr val="C3585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8"/>
          <p:cNvSpPr/>
          <p:nvPr/>
        </p:nvSpPr>
        <p:spPr>
          <a:xfrm>
            <a:off x="4416600" y="4287200"/>
            <a:ext cx="399900" cy="290100"/>
          </a:xfrm>
          <a:prstGeom prst="rect">
            <a:avLst/>
          </a:prstGeom>
          <a:solidFill>
            <a:srgbClr val="5A2323"/>
          </a:solidFill>
          <a:ln cap="flat" cmpd="sng" w="12700">
            <a:solidFill>
              <a:srgbClr val="E06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06060"/>
                </a:solidFill>
                <a:latin typeface="Arial"/>
                <a:ea typeface="Arial"/>
                <a:cs typeface="Arial"/>
                <a:sym typeface="Arial"/>
              </a:rPr>
              <a:t>✕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"/>
          <p:cNvSpPr/>
          <p:nvPr/>
        </p:nvSpPr>
        <p:spPr>
          <a:xfrm>
            <a:off x="502920" y="20116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5858"/>
              </a:buClr>
              <a:buSzPts val="2500"/>
              <a:buFont typeface="Times New Roman"/>
              <a:buNone/>
            </a:pPr>
            <a:r>
              <a:rPr b="1" i="0" lang="en-US" sz="2500" u="none" cap="none" strike="noStrike">
                <a:solidFill>
                  <a:srgbClr val="C3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Validated: Audio Proc</a:t>
            </a:r>
            <a:r>
              <a:rPr b="1" lang="en-US" sz="2500">
                <a:solidFill>
                  <a:srgbClr val="C3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essing Node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9"/>
          <p:cNvCxnSpPr/>
          <p:nvPr/>
        </p:nvCxnSpPr>
        <p:spPr>
          <a:xfrm>
            <a:off x="548640" y="896112"/>
            <a:ext cx="8092500" cy="0"/>
          </a:xfrm>
          <a:prstGeom prst="straightConnector1">
            <a:avLst/>
          </a:prstGeom>
          <a:noFill/>
          <a:ln cap="flat" cmpd="sng" w="38100">
            <a:solidFill>
              <a:srgbClr val="C3585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2" name="Google Shape;112;p9" title="M3_Processing_Packets_Sent.PNG"/>
          <p:cNvPicPr preferRelativeResize="0"/>
          <p:nvPr/>
        </p:nvPicPr>
        <p:blipFill rotWithShape="1">
          <a:blip r:embed="rId3">
            <a:alphaModFix/>
          </a:blip>
          <a:srcRect b="0" l="0" r="59686" t="53397"/>
          <a:stretch/>
        </p:blipFill>
        <p:spPr>
          <a:xfrm>
            <a:off x="366038" y="2475600"/>
            <a:ext cx="3296475" cy="1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9" title="M3_Processing_Verification.PNG"/>
          <p:cNvPicPr preferRelativeResize="0"/>
          <p:nvPr/>
        </p:nvPicPr>
        <p:blipFill rotWithShape="1">
          <a:blip r:embed="rId4">
            <a:alphaModFix/>
          </a:blip>
          <a:srcRect b="17996" l="0" r="0" t="12279"/>
          <a:stretch/>
        </p:blipFill>
        <p:spPr>
          <a:xfrm>
            <a:off x="745935" y="2745100"/>
            <a:ext cx="2536674" cy="98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9"/>
          <p:cNvPicPr preferRelativeResize="0"/>
          <p:nvPr/>
        </p:nvPicPr>
        <p:blipFill rotWithShape="1">
          <a:blip r:embed="rId5">
            <a:alphaModFix/>
          </a:blip>
          <a:srcRect b="7" l="1519" r="44215" t="27838"/>
          <a:stretch/>
        </p:blipFill>
        <p:spPr>
          <a:xfrm>
            <a:off x="4011525" y="1801675"/>
            <a:ext cx="4796800" cy="47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9"/>
          <p:cNvSpPr/>
          <p:nvPr/>
        </p:nvSpPr>
        <p:spPr>
          <a:xfrm>
            <a:off x="541863" y="2082075"/>
            <a:ext cx="2944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375 Packets/second - 2 seconds</a:t>
            </a:r>
            <a:endParaRPr sz="1700">
              <a:solidFill>
                <a:srgbClr val="4C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4937525" y="1411961"/>
            <a:ext cx="2944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 and Sender - </a:t>
            </a:r>
            <a:r>
              <a:rPr i="1" lang="en-US" sz="1700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 </a:t>
            </a:r>
            <a:endParaRPr i="1" sz="1700">
              <a:solidFill>
                <a:srgbClr val="4C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7" name="Google Shape;117;p9"/>
          <p:cNvPicPr preferRelativeResize="0"/>
          <p:nvPr/>
        </p:nvPicPr>
        <p:blipFill rotWithShape="1">
          <a:blip r:embed="rId6">
            <a:alphaModFix/>
          </a:blip>
          <a:srcRect b="0" l="1557" r="44174" t="26096"/>
          <a:stretch/>
        </p:blipFill>
        <p:spPr>
          <a:xfrm>
            <a:off x="4011525" y="3617500"/>
            <a:ext cx="4796800" cy="60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9"/>
          <p:cNvSpPr/>
          <p:nvPr/>
        </p:nvSpPr>
        <p:spPr>
          <a:xfrm>
            <a:off x="4495925" y="2476647"/>
            <a:ext cx="38280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Sender </a:t>
            </a:r>
            <a:r>
              <a:rPr lang="en-US" sz="1700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i="1" lang="en-US" sz="1700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Node Shutdown</a:t>
            </a:r>
            <a:endParaRPr i="1" sz="1700">
              <a:solidFill>
                <a:srgbClr val="4C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9" name="Google Shape;119;p9"/>
          <p:cNvPicPr preferRelativeResize="0"/>
          <p:nvPr/>
        </p:nvPicPr>
        <p:blipFill rotWithShape="1">
          <a:blip r:embed="rId7">
            <a:alphaModFix/>
          </a:blip>
          <a:srcRect b="0" l="0" r="45732" t="53093"/>
          <a:stretch/>
        </p:blipFill>
        <p:spPr>
          <a:xfrm>
            <a:off x="4011525" y="2855500"/>
            <a:ext cx="4796800" cy="156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9"/>
          <p:cNvSpPr/>
          <p:nvPr/>
        </p:nvSpPr>
        <p:spPr>
          <a:xfrm>
            <a:off x="4495925" y="3238647"/>
            <a:ext cx="38280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 and Sender - </a:t>
            </a:r>
            <a:r>
              <a:rPr i="1" lang="en-US" sz="1700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Node Restart</a:t>
            </a:r>
            <a:endParaRPr i="1" sz="1700">
              <a:solidFill>
                <a:srgbClr val="4C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"/>
          <p:cNvSpPr/>
          <p:nvPr/>
        </p:nvSpPr>
        <p:spPr>
          <a:xfrm>
            <a:off x="502920" y="201168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5858"/>
              </a:buClr>
              <a:buSzPts val="2500"/>
              <a:buFont typeface="Times New Roman"/>
              <a:buNone/>
            </a:pPr>
            <a:r>
              <a:rPr b="1" i="0" lang="en-US" sz="2500" u="none" cap="none" strike="noStrike">
                <a:solidFill>
                  <a:srgbClr val="C3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Validated: Audio Proc</a:t>
            </a:r>
            <a:r>
              <a:rPr b="1" lang="en-US" sz="2500">
                <a:solidFill>
                  <a:srgbClr val="C3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essing Node With Ableton Project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10"/>
          <p:cNvCxnSpPr/>
          <p:nvPr/>
        </p:nvCxnSpPr>
        <p:spPr>
          <a:xfrm>
            <a:off x="548640" y="896112"/>
            <a:ext cx="8092500" cy="0"/>
          </a:xfrm>
          <a:prstGeom prst="straightConnector1">
            <a:avLst/>
          </a:prstGeom>
          <a:noFill/>
          <a:ln cap="flat" cmpd="sng" w="38100">
            <a:solidFill>
              <a:srgbClr val="C3585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8" name="Google Shape;12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7812" y="1072475"/>
            <a:ext cx="5108374" cy="391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35858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"/>
          <p:cNvSpPr/>
          <p:nvPr/>
        </p:nvSpPr>
        <p:spPr>
          <a:xfrm>
            <a:off x="502920" y="20116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5858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Roadmap</a:t>
            </a:r>
            <a:endParaRPr b="0" i="0" sz="3200" u="none" cap="none" strike="noStrike">
              <a:solidFill>
                <a:srgbClr val="FCE5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11"/>
          <p:cNvCxnSpPr/>
          <p:nvPr/>
        </p:nvCxnSpPr>
        <p:spPr>
          <a:xfrm>
            <a:off x="548640" y="896112"/>
            <a:ext cx="8092440" cy="0"/>
          </a:xfrm>
          <a:prstGeom prst="straightConnector1">
            <a:avLst/>
          </a:prstGeom>
          <a:noFill/>
          <a:ln cap="flat" cmpd="sng" w="38100">
            <a:solidFill>
              <a:srgbClr val="4C22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11"/>
          <p:cNvSpPr/>
          <p:nvPr/>
        </p:nvSpPr>
        <p:spPr>
          <a:xfrm>
            <a:off x="502920" y="1173480"/>
            <a:ext cx="4114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5858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Milestone 3+</a:t>
            </a:r>
            <a:endParaRPr b="0" i="0" sz="1800" u="none" cap="none" strike="noStrike">
              <a:solidFill>
                <a:srgbClr val="4C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1"/>
          <p:cNvSpPr/>
          <p:nvPr/>
        </p:nvSpPr>
        <p:spPr>
          <a:xfrm>
            <a:off x="502920" y="1356360"/>
            <a:ext cx="4114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3E6"/>
              </a:buClr>
              <a:buSzPts val="1400"/>
              <a:buFont typeface="Times New Roman"/>
              <a:buChar char="–"/>
            </a:pPr>
            <a:r>
              <a:rPr lang="en-US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egistry-driven</a:t>
            </a:r>
            <a:r>
              <a:rPr lang="en-US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selectable VST3 plugins on the node</a:t>
            </a:r>
            <a:endParaRPr>
              <a:solidFill>
                <a:srgbClr val="FFF3E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3E6"/>
              </a:buClr>
              <a:buSzPts val="1400"/>
              <a:buFont typeface="Times New Roman"/>
              <a:buChar char="–"/>
            </a:pPr>
            <a:r>
              <a:rPr lang="en-US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Plugin-scaling parameter UI and hosted-plugin latency folded into PDC</a:t>
            </a:r>
            <a:endParaRPr>
              <a:solidFill>
                <a:srgbClr val="FFF3E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3E6"/>
              </a:buClr>
              <a:buSzPts val="1400"/>
              <a:buFont typeface="Times New Roman"/>
              <a:buChar char="–"/>
            </a:pPr>
            <a:r>
              <a:rPr lang="en-US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 plugin use metrics</a:t>
            </a:r>
            <a:endParaRPr>
              <a:solidFill>
                <a:srgbClr val="FFF3E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1"/>
          <p:cNvSpPr/>
          <p:nvPr/>
        </p:nvSpPr>
        <p:spPr>
          <a:xfrm>
            <a:off x="4800600" y="1173480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5858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Beyond</a:t>
            </a:r>
            <a:endParaRPr b="0" i="0" sz="1800" u="none" cap="none" strike="noStrike">
              <a:solidFill>
                <a:srgbClr val="4C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1"/>
          <p:cNvSpPr/>
          <p:nvPr/>
        </p:nvSpPr>
        <p:spPr>
          <a:xfrm>
            <a:off x="4800600" y="1305218"/>
            <a:ext cx="3840600" cy="13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3E6"/>
              </a:buClr>
              <a:buSzPts val="1400"/>
              <a:buFont typeface="Times New Roman"/>
              <a:buChar char="–"/>
            </a:pPr>
            <a:r>
              <a:rPr b="0" i="0" lang="en-US" sz="140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Offline TCP-based lossless freeze/flatten (capture</a:t>
            </a:r>
            <a:r>
              <a:rPr lang="en-US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0" lang="en-US" sz="140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remote process</a:t>
            </a:r>
            <a:r>
              <a:rPr lang="en-US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0" lang="en-US" sz="140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cache locally)</a:t>
            </a:r>
            <a:endParaRPr b="0" i="0" sz="1400" u="none" cap="none" strike="noStrike">
              <a:solidFill>
                <a:srgbClr val="FFF3E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3E6"/>
              </a:buClr>
              <a:buSzPts val="1400"/>
              <a:buFont typeface="Times New Roman"/>
              <a:buChar char="–"/>
            </a:pPr>
            <a:r>
              <a:rPr b="0" i="0" lang="en-US" sz="140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tier with license-aware offloading </a:t>
            </a:r>
            <a:endParaRPr b="0" i="0" sz="1400" u="none" cap="none" strike="noStrike">
              <a:solidFill>
                <a:srgbClr val="FFF3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1"/>
          <p:cNvSpPr/>
          <p:nvPr/>
        </p:nvSpPr>
        <p:spPr>
          <a:xfrm>
            <a:off x="502920" y="3611880"/>
            <a:ext cx="2514600" cy="1143000"/>
          </a:xfrm>
          <a:prstGeom prst="rect">
            <a:avLst/>
          </a:prstGeom>
          <a:solidFill>
            <a:srgbClr val="4C2222"/>
          </a:solidFill>
          <a:ln>
            <a:noFill/>
          </a:ln>
          <a:effectLst>
            <a:outerShdw blurRad="63500" rotWithShape="0" algn="bl" dir="2700000" dist="25400">
              <a:srgbClr val="2C1414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1"/>
          <p:cNvSpPr/>
          <p:nvPr/>
        </p:nvSpPr>
        <p:spPr>
          <a:xfrm>
            <a:off x="502920" y="3703320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 10 ms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502920" y="420624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Round Trip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 Buffer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1"/>
          <p:cNvSpPr/>
          <p:nvPr/>
        </p:nvSpPr>
        <p:spPr>
          <a:xfrm>
            <a:off x="3246120" y="3611880"/>
            <a:ext cx="2514600" cy="1143000"/>
          </a:xfrm>
          <a:prstGeom prst="rect">
            <a:avLst/>
          </a:prstGeom>
          <a:solidFill>
            <a:srgbClr val="4C2222"/>
          </a:solidFill>
          <a:ln>
            <a:noFill/>
          </a:ln>
          <a:effectLst>
            <a:outerShdw blurRad="63500" rotWithShape="0" algn="bl" dir="2700000" dist="25400">
              <a:srgbClr val="2C1414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1"/>
          <p:cNvSpPr/>
          <p:nvPr/>
        </p:nvSpPr>
        <p:spPr>
          <a:xfrm>
            <a:off x="3246120" y="3703320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3246120" y="420624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5989320" y="3611880"/>
            <a:ext cx="2514600" cy="1143000"/>
          </a:xfrm>
          <a:prstGeom prst="rect">
            <a:avLst/>
          </a:prstGeom>
          <a:solidFill>
            <a:srgbClr val="4C2222"/>
          </a:solidFill>
          <a:ln>
            <a:noFill/>
          </a:ln>
          <a:effectLst>
            <a:outerShdw blurRad="63500" rotWithShape="0" algn="bl" dir="2700000" dist="25400">
              <a:srgbClr val="2C1414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1"/>
          <p:cNvSpPr/>
          <p:nvPr/>
        </p:nvSpPr>
        <p:spPr>
          <a:xfrm>
            <a:off x="5989320" y="3703320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 99%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5989320" y="420624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 Playback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"/>
          <p:cNvSpPr txBox="1"/>
          <p:nvPr>
            <p:ph type="ctrTitle"/>
          </p:nvPr>
        </p:nvSpPr>
        <p:spPr>
          <a:xfrm>
            <a:off x="544600" y="842712"/>
            <a:ext cx="8366400" cy="2882100"/>
          </a:xfrm>
          <a:prstGeom prst="rect">
            <a:avLst/>
          </a:prstGeom>
          <a:effectLst>
            <a:outerShdw blurRad="342900" rotWithShape="0" algn="bl" dir="5400000" dist="38100">
              <a:srgbClr val="2C1414">
                <a:alpha val="20999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400">
                <a:solidFill>
                  <a:srgbClr val="C3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Q&amp;A</a:t>
            </a:r>
            <a:endParaRPr b="1" sz="10400">
              <a:solidFill>
                <a:srgbClr val="C358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12"/>
          <p:cNvSpPr txBox="1"/>
          <p:nvPr>
            <p:ph idx="1" type="subTitle"/>
          </p:nvPr>
        </p:nvSpPr>
        <p:spPr>
          <a:xfrm>
            <a:off x="544600" y="3912144"/>
            <a:ext cx="4049700" cy="811500"/>
          </a:xfrm>
          <a:prstGeom prst="rect">
            <a:avLst/>
          </a:prstGeom>
          <a:effectLst>
            <a:outerShdw blurRad="342900" rotWithShape="0" algn="bl" dir="5400000" dist="38100">
              <a:srgbClr val="000000">
                <a:alpha val="209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C3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Questions?</a:t>
            </a:r>
            <a:endParaRPr sz="3000">
              <a:solidFill>
                <a:srgbClr val="C358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12"/>
          <p:cNvSpPr/>
          <p:nvPr/>
        </p:nvSpPr>
        <p:spPr>
          <a:xfrm>
            <a:off x="288100" y="419850"/>
            <a:ext cx="70500" cy="4303800"/>
          </a:xfrm>
          <a:prstGeom prst="rect">
            <a:avLst/>
          </a:prstGeom>
          <a:solidFill>
            <a:srgbClr val="4C22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2"/>
          <p:cNvSpPr/>
          <p:nvPr/>
        </p:nvSpPr>
        <p:spPr>
          <a:xfrm flipH="1" rot="5400000">
            <a:off x="4612900" y="-172325"/>
            <a:ext cx="27600" cy="8056800"/>
          </a:xfrm>
          <a:prstGeom prst="rect">
            <a:avLst/>
          </a:prstGeom>
          <a:solidFill>
            <a:srgbClr val="C358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