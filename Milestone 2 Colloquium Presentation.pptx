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19A237-783E-4322-96CC-6717B8DDF061}">
  <a:tblStyle styleId="{1419A237-783E-4322-96CC-6717B8DDF0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e6af55a8e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ee6af55a8e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M1 was a one-way pipe; the hard part of M2 is making the round trip transparent. The middleware layer — scheduler and coordinator — is now in progress for M3. (~1:30)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the ReceiverThread + PlaybackBuffer split mirrors M1's design — a missed audio deadline is still audible, so receiving over a socket can no more run on the audio thread than sending could. Symmetry, for the same reason. (~2:00)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Latency isn't hidden, it's declared and made constant. A fixed, known L lets the host's PDC do the alignment for free; startSample makes the return order-independent. Variable latency would be unfixable; constant latency is just a delay the DAW already knows how to compensate. (~1:45)</a:t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2 is the fast sanity test — if the return is audibly low-passed, it cannot be the dry signal leaking through, so the whole round trip is proven in one listen. The underrun row proves failure is graceful, not glitchy. (~1:30)</a:t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M2 deliberately used a built-in DSP node to isolate the hard transport-and-latency problem; now that the round trip is transparent and in sync, M3 — the middleware layer, now in progress — can drop real plugins into the same proven pipe. (~0:45)</a:t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e6af55a8e_0_6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e6af55a8e_0_6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35858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544600" y="130139"/>
            <a:ext cx="8366400" cy="2882100"/>
          </a:xfrm>
          <a:prstGeom prst="rect">
            <a:avLst/>
          </a:prstGeom>
          <a:effectLst>
            <a:outerShdw blurRad="342900" rotWithShape="0" algn="bl" dir="5400000" dist="38100">
              <a:srgbClr val="2C1414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Audio DSP Middleware for </a:t>
            </a:r>
            <a:endParaRPr b="1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Resource-Constrained Hosts</a:t>
            </a:r>
            <a:endParaRPr b="1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544600" y="4005721"/>
            <a:ext cx="4049700" cy="811500"/>
          </a:xfrm>
          <a:prstGeom prst="rect">
            <a:avLst/>
          </a:prstGeom>
          <a:effectLst>
            <a:outerShdw blurRad="342900" rotWithShape="0" algn="bl" dir="5400000" dist="38100">
              <a:srgbClr val="000000">
                <a:alpha val="77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 Bonargo Jr.</a:t>
            </a:r>
            <a:endParaRPr sz="3000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288100" y="419850"/>
            <a:ext cx="70500" cy="43038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flipH="1" rot="5400000">
            <a:off x="4612900" y="-96125"/>
            <a:ext cx="27600" cy="8056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4594300" y="4014472"/>
            <a:ext cx="4049700" cy="736200"/>
          </a:xfrm>
          <a:prstGeom prst="rect">
            <a:avLst/>
          </a:prstGeom>
          <a:effectLst>
            <a:outerShdw blurRad="342900" rotWithShape="0" algn="bl" dir="5400000" dist="38100">
              <a:srgbClr val="000000">
                <a:alpha val="77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 sz="17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M.S. Computer Science </a:t>
            </a:r>
            <a:endParaRPr sz="1700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US" sz="17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Rochester Institute of Technology</a:t>
            </a:r>
            <a:endParaRPr sz="1700">
              <a:solidFill>
                <a:srgbClr val="FCE5C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4"/>
          <p:cNvSpPr txBox="1"/>
          <p:nvPr>
            <p:ph type="ctrTitle"/>
          </p:nvPr>
        </p:nvSpPr>
        <p:spPr>
          <a:xfrm>
            <a:off x="544600" y="2746558"/>
            <a:ext cx="4344000" cy="10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2</a:t>
            </a:r>
            <a:endParaRPr b="1" sz="42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7635240" y="3651504"/>
            <a:ext cx="1280100" cy="457200"/>
          </a:xfrm>
          <a:prstGeom prst="rect">
            <a:avLst/>
          </a:prstGeom>
          <a:solidFill>
            <a:srgbClr val="C3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635240" y="3158636"/>
            <a:ext cx="1280100" cy="457200"/>
          </a:xfrm>
          <a:prstGeom prst="rect">
            <a:avLst/>
          </a:prstGeom>
          <a:solidFill>
            <a:srgbClr val="C3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7635240" y="3158636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1" lang="en-US" sz="12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7635240" y="365150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Recap: The Problem &amp; System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02925" y="1187118"/>
            <a:ext cx="81381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700"/>
              <a:buFont typeface="Times New Roman"/>
              <a:buChar char="–"/>
            </a:pPr>
            <a:r>
              <a:rPr b="0" i="0" lang="en-US" sz="17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1 </a:t>
            </a: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</a:t>
            </a:r>
            <a:r>
              <a:rPr b="0" i="0" lang="en-US" sz="17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one-way path from host-node</a:t>
            </a:r>
            <a:endParaRPr sz="1700">
              <a:solidFill>
                <a:srgbClr val="4C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700"/>
              <a:buFont typeface="Times New Roman"/>
              <a:buChar char="–"/>
            </a:pPr>
            <a:r>
              <a:rPr b="0" i="0" lang="en-US" sz="17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2 closes the loop from </a:t>
            </a:r>
            <a:r>
              <a:rPr lang="en-US" sz="170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host-node-host:</a:t>
            </a:r>
            <a:r>
              <a:rPr b="0" i="0" lang="en-US" sz="17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node processes the audio and returns it, time-aligned</a:t>
            </a:r>
            <a:endParaRPr b="0" i="0" sz="1700" u="none" cap="none" strike="noStrike">
              <a:solidFill>
                <a:srgbClr val="4C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C2222"/>
              </a:buClr>
              <a:buSzPts val="1700"/>
              <a:buFont typeface="Times New Roman"/>
              <a:buChar char="–"/>
            </a:pPr>
            <a:r>
              <a:rPr b="0" i="0" lang="en-US" sz="17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middleware that offloads real-time DSP to Local, LAN, and Cloud processing nodes</a:t>
            </a:r>
            <a:endParaRPr b="0" i="0" sz="1700" u="none" cap="none" strike="noStrike">
              <a:solidFill>
                <a:srgbClr val="4C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02920" y="3368040"/>
            <a:ext cx="2240400" cy="914400"/>
          </a:xfrm>
          <a:prstGeom prst="rect">
            <a:avLst/>
          </a:prstGeom>
          <a:solidFill>
            <a:srgbClr val="C35858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02920" y="3368040"/>
            <a:ext cx="224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5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DAW Host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VST3 Send/Return Plugin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971800" y="3002280"/>
            <a:ext cx="1234500" cy="731400"/>
          </a:xfrm>
          <a:prstGeom prst="rect">
            <a:avLst/>
          </a:prstGeom>
          <a:solidFill>
            <a:srgbClr val="C35858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2971800" y="3002280"/>
            <a:ext cx="123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Dry Audio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000"/>
              <a:buFont typeface="Times New Roman"/>
              <a:buNone/>
            </a:pPr>
            <a:r>
              <a:rPr b="0" i="0" lang="en-US" sz="10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UDP :9000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2971800" y="3916680"/>
            <a:ext cx="1234500" cy="731400"/>
          </a:xfrm>
          <a:prstGeom prst="rect">
            <a:avLst/>
          </a:prstGeom>
          <a:solidFill>
            <a:srgbClr val="C35858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2971800" y="3916680"/>
            <a:ext cx="123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000"/>
              <a:buFont typeface="Times New Roman"/>
              <a:buNone/>
            </a:pPr>
            <a:r>
              <a:rPr b="0" i="0" lang="en-US" sz="10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UDP :9001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5"/>
          <p:cNvCxnSpPr/>
          <p:nvPr/>
        </p:nvCxnSpPr>
        <p:spPr>
          <a:xfrm flipH="1" rot="10800000">
            <a:off x="2743200" y="3367920"/>
            <a:ext cx="228600" cy="183000"/>
          </a:xfrm>
          <a:prstGeom prst="straightConnector1">
            <a:avLst/>
          </a:prstGeom>
          <a:noFill/>
          <a:ln cap="flat" cmpd="sng" w="28575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5"/>
          <p:cNvCxnSpPr/>
          <p:nvPr/>
        </p:nvCxnSpPr>
        <p:spPr>
          <a:xfrm>
            <a:off x="2743200" y="4099560"/>
            <a:ext cx="228600" cy="183000"/>
          </a:xfrm>
          <a:prstGeom prst="straightConnector1">
            <a:avLst/>
          </a:prstGeom>
          <a:noFill/>
          <a:ln cap="flat" cmpd="sng" w="28575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/>
          <p:nvPr/>
        </p:nvSpPr>
        <p:spPr>
          <a:xfrm>
            <a:off x="4526280" y="2910840"/>
            <a:ext cx="2331600" cy="1783200"/>
          </a:xfrm>
          <a:prstGeom prst="rect">
            <a:avLst/>
          </a:prstGeom>
          <a:solidFill>
            <a:srgbClr val="FCE5CD"/>
          </a:solidFill>
          <a:ln cap="flat" cmpd="sng" w="31750">
            <a:solidFill>
              <a:srgbClr val="C0833A"/>
            </a:solidFill>
            <a:prstDash val="dash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526280" y="2974848"/>
            <a:ext cx="2331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400"/>
              <a:buFont typeface="Times New Roman"/>
              <a:buNone/>
            </a:pPr>
            <a:r>
              <a:rPr b="1" i="0" lang="en-US" sz="14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33A"/>
              </a:buClr>
              <a:buSzPts val="1100"/>
              <a:buFont typeface="Times New Roman"/>
              <a:buNone/>
            </a:pPr>
            <a:r>
              <a:rPr b="1" i="1" lang="en-US" sz="1100" u="none" cap="none" strike="noStrike">
                <a:solidFill>
                  <a:srgbClr val="C083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progress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663440" y="3733800"/>
            <a:ext cx="1005900" cy="7773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663440" y="3733800"/>
            <a:ext cx="1005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760720" y="3733800"/>
            <a:ext cx="1005900" cy="7773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760720" y="3733800"/>
            <a:ext cx="1005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5"/>
          <p:cNvCxnSpPr/>
          <p:nvPr/>
        </p:nvCxnSpPr>
        <p:spPr>
          <a:xfrm>
            <a:off x="4206240" y="3368040"/>
            <a:ext cx="320100" cy="274200"/>
          </a:xfrm>
          <a:prstGeom prst="straightConnector1">
            <a:avLst/>
          </a:prstGeom>
          <a:noFill/>
          <a:ln cap="flat" cmpd="sng" w="28575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5"/>
          <p:cNvCxnSpPr/>
          <p:nvPr/>
        </p:nvCxnSpPr>
        <p:spPr>
          <a:xfrm flipH="1" rot="10800000">
            <a:off x="4206240" y="4008240"/>
            <a:ext cx="320100" cy="274200"/>
          </a:xfrm>
          <a:prstGeom prst="straightConnector1">
            <a:avLst/>
          </a:prstGeom>
          <a:noFill/>
          <a:ln cap="flat" cmpd="sng" w="28575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5"/>
          <p:cNvSpPr/>
          <p:nvPr/>
        </p:nvSpPr>
        <p:spPr>
          <a:xfrm>
            <a:off x="7635240" y="2682240"/>
            <a:ext cx="1280100" cy="457200"/>
          </a:xfrm>
          <a:prstGeom prst="rect">
            <a:avLst/>
          </a:prstGeom>
          <a:solidFill>
            <a:srgbClr val="C3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7635240" y="268224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050"/>
              <a:buFont typeface="Times New Roman"/>
              <a:buNone/>
            </a:pPr>
            <a:r>
              <a:rPr b="1" i="0" lang="en-US" sz="10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Nodes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635240" y="4145280"/>
            <a:ext cx="1280100" cy="457200"/>
          </a:xfrm>
          <a:prstGeom prst="rect">
            <a:avLst/>
          </a:prstGeom>
          <a:solidFill>
            <a:srgbClr val="2C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7635240" y="414528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5"/>
          <p:cNvCxnSpPr/>
          <p:nvPr/>
        </p:nvCxnSpPr>
        <p:spPr>
          <a:xfrm>
            <a:off x="6858000" y="3779520"/>
            <a:ext cx="777300" cy="0"/>
          </a:xfrm>
          <a:prstGeom prst="straightConnector1">
            <a:avLst/>
          </a:prstGeom>
          <a:noFill/>
          <a:ln cap="flat" cmpd="sng" w="28575">
            <a:solidFill>
              <a:srgbClr val="4C22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" name="Google Shape;57;p5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222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4968125" y="1202650"/>
            <a:ext cx="3932100" cy="3420300"/>
          </a:xfrm>
          <a:prstGeom prst="rect">
            <a:avLst/>
          </a:prstGeom>
          <a:solidFill>
            <a:srgbClr val="D8A878"/>
          </a:solidFill>
          <a:ln cap="flat" cmpd="sng" w="15875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Deliverable: Bidirectional, Real-Time-Safe Both Ways</a:t>
            </a:r>
            <a:endParaRPr b="0" i="0" sz="2600" u="none" cap="none" strike="noStrike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02920" y="1051560"/>
            <a:ext cx="42519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06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450"/>
              <a:buFont typeface="Times New Roman"/>
              <a:buChar char="-"/>
            </a:pP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plugin is now a send/return device</a:t>
            </a:r>
            <a:r>
              <a:rPr lang="en-US" sz="14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r>
              <a:rPr lang="en-US" sz="14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 </a:t>
            </a: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dry audio out and receiv</a:t>
            </a:r>
            <a:r>
              <a:rPr lang="en-US" sz="14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</a:t>
            </a: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processed audio back</a:t>
            </a:r>
            <a:endParaRPr sz="1450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FCE5CD"/>
              </a:buClr>
              <a:buSzPts val="1450"/>
              <a:buFont typeface="Times New Roman"/>
              <a:buChar char="-"/>
            </a:pP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Keeps the </a:t>
            </a:r>
            <a:r>
              <a:rPr lang="en-US" sz="14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 </a:t>
            </a: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SenderThread (now stamping each packet with a timeline position)</a:t>
            </a:r>
            <a:r>
              <a:rPr lang="en-US" sz="14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adds a ReceiverThread</a:t>
            </a:r>
            <a:endParaRPr sz="1450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FCE5CD"/>
              </a:buClr>
              <a:buSzPts val="1450"/>
              <a:buFont typeface="Times New Roman"/>
              <a:buChar char="-"/>
            </a:pP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Returning audio lands in a lock-free PlaybackBuffer (SPSC, slot-tagged by startSample); the audio thread only reads it</a:t>
            </a:r>
            <a:endParaRPr sz="1450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FCE5CD"/>
              </a:buClr>
              <a:buSzPts val="1450"/>
              <a:buFont typeface="Times New Roman"/>
              <a:buChar char="-"/>
            </a:pP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RT-safety now extends both directions</a:t>
            </a:r>
            <a:r>
              <a:rPr lang="en-US" sz="14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socket I/O ever touches the DAW audio thread, send or receive</a:t>
            </a:r>
            <a:endParaRPr sz="1450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l">
              <a:spcBef>
                <a:spcPts val="600"/>
              </a:spcBef>
              <a:spcAft>
                <a:spcPts val="600"/>
              </a:spcAft>
              <a:buClr>
                <a:srgbClr val="FCE5CD"/>
              </a:buClr>
              <a:buSzPts val="1450"/>
              <a:buFont typeface="Times New Roman"/>
              <a:buChar char="-"/>
            </a:pPr>
            <a:r>
              <a:rPr b="0" i="0" lang="en-US" sz="1450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New: ReceiverThread, PlaybackBuffer (slot-tagged SPSC), DryDelay (retains dry signal for fallback)</a:t>
            </a:r>
            <a:endParaRPr b="0" i="0" sz="1450" cap="none" strike="noStrike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059680" y="1326594"/>
            <a:ext cx="3749100" cy="2240400"/>
          </a:xfrm>
          <a:prstGeom prst="rect">
            <a:avLst/>
          </a:prstGeom>
          <a:solidFill>
            <a:srgbClr val="FCE5CD"/>
          </a:solidFill>
          <a:ln cap="flat" cmpd="sng" w="15875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5059680" y="1372314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DAW Host — VST3 Plugin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242560" y="1692354"/>
            <a:ext cx="3383400" cy="457200"/>
          </a:xfrm>
          <a:prstGeom prst="rect">
            <a:avLst/>
          </a:prstGeom>
          <a:solidFill>
            <a:srgbClr val="C3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5242560" y="1692354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Times New Roman"/>
              <a:buNone/>
            </a:pPr>
            <a:r>
              <a:rPr b="1" i="0" lang="en-US" sz="11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Thread — processBlock()  ·  no socket I/O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242560" y="2286714"/>
            <a:ext cx="1627500" cy="4572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242560" y="2286714"/>
            <a:ext cx="162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000"/>
              <a:buFont typeface="Times New Roman"/>
              <a:buNone/>
            </a:pPr>
            <a:r>
              <a:rPr b="0" i="0" lang="en-US" sz="10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</a:t>
            </a:r>
            <a:r>
              <a:rPr lang="en-US" sz="10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b="0" i="0" lang="en-US" sz="10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SenderThread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998208" y="2286714"/>
            <a:ext cx="1627500" cy="4572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998208" y="2286714"/>
            <a:ext cx="162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ReceiverThread </a:t>
            </a:r>
            <a:r>
              <a:rPr lang="en-US" sz="90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0" i="0" lang="en-US" sz="9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9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laybackBuffer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6"/>
          <p:cNvCxnSpPr/>
          <p:nvPr/>
        </p:nvCxnSpPr>
        <p:spPr>
          <a:xfrm>
            <a:off x="6056376" y="2149554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4C22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" name="Google Shape;75;p6"/>
          <p:cNvCxnSpPr/>
          <p:nvPr/>
        </p:nvCxnSpPr>
        <p:spPr>
          <a:xfrm>
            <a:off x="7812024" y="2286714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4C222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6" name="Google Shape;76;p6"/>
          <p:cNvSpPr/>
          <p:nvPr/>
        </p:nvSpPr>
        <p:spPr>
          <a:xfrm>
            <a:off x="5608320" y="3886914"/>
            <a:ext cx="2651700" cy="640200"/>
          </a:xfrm>
          <a:prstGeom prst="rect">
            <a:avLst/>
          </a:prstGeom>
          <a:solidFill>
            <a:srgbClr val="C35858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608320" y="3886914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Times New Roman"/>
              <a:buNone/>
            </a:pPr>
            <a:r>
              <a:rPr b="1" i="0" lang="en-US" sz="11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 Processing Node (Python)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950"/>
              <a:buFont typeface="Times New Roman"/>
              <a:buNone/>
            </a:pPr>
            <a:r>
              <a:rPr b="0" i="0" lang="en-US" sz="9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</a:t>
            </a:r>
            <a:r>
              <a:rPr lang="en-US" sz="9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r>
              <a:rPr b="0" i="0" lang="en-US" sz="9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one-pole low-pass </a:t>
            </a:r>
            <a:r>
              <a:rPr lang="en-US" sz="950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0" i="0" lang="en-US" sz="9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echoes startSample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6"/>
          <p:cNvCxnSpPr/>
          <p:nvPr/>
        </p:nvCxnSpPr>
        <p:spPr>
          <a:xfrm>
            <a:off x="6065520" y="2743914"/>
            <a:ext cx="0" cy="1143000"/>
          </a:xfrm>
          <a:prstGeom prst="straightConnector1">
            <a:avLst/>
          </a:prstGeom>
          <a:noFill/>
          <a:ln cap="flat" cmpd="sng" w="28575">
            <a:solidFill>
              <a:srgbClr val="4C22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6"/>
          <p:cNvSpPr/>
          <p:nvPr/>
        </p:nvSpPr>
        <p:spPr>
          <a:xfrm>
            <a:off x="5609936" y="3140963"/>
            <a:ext cx="114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000"/>
              <a:buFont typeface="Times New Roman"/>
              <a:buNone/>
            </a:pPr>
            <a:r>
              <a:rPr b="1" i="0" lang="en-US" sz="10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dry · :9000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6"/>
          <p:cNvCxnSpPr/>
          <p:nvPr/>
        </p:nvCxnSpPr>
        <p:spPr>
          <a:xfrm rot="10800000">
            <a:off x="7802880" y="2743914"/>
            <a:ext cx="0" cy="1143000"/>
          </a:xfrm>
          <a:prstGeom prst="straightConnector1">
            <a:avLst/>
          </a:prstGeom>
          <a:noFill/>
          <a:ln cap="flat" cmpd="sng" w="28575">
            <a:solidFill>
              <a:srgbClr val="C3585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6"/>
          <p:cNvSpPr/>
          <p:nvPr/>
        </p:nvSpPr>
        <p:spPr>
          <a:xfrm>
            <a:off x="7912608" y="3140963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900"/>
              <a:buFont typeface="Times New Roman"/>
              <a:buNone/>
            </a:pPr>
            <a:r>
              <a:rPr b="1" i="0" lang="en-US" sz="9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processed · :9001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Transparent Remote Processing: Fixed-Latency PDC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02925" y="987550"/>
            <a:ext cx="42792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1414"/>
              </a:buClr>
              <a:buSzPts val="1300"/>
              <a:buFont typeface="Times New Roman"/>
              <a:buChar char="–"/>
            </a:pPr>
            <a:r>
              <a:rPr b="0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Plugin declares a fixed latency L via setLatencySamples() -  L ~ 4096 smp </a:t>
            </a:r>
            <a:r>
              <a:rPr lang="en-US" sz="13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</a:t>
            </a:r>
            <a:r>
              <a:rPr b="0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 ms @ 48 kHz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C1414"/>
              </a:buClr>
              <a:buSzPts val="1300"/>
              <a:buFont typeface="Times New Roman"/>
              <a:buChar char="–"/>
            </a:pPr>
            <a:r>
              <a:rPr b="0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block sends the dry input out </a:t>
            </a:r>
            <a:r>
              <a:rPr lang="en-US" sz="13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the processed version of the audio sent L samples ago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C1414"/>
              </a:buClr>
              <a:buSzPts val="1300"/>
              <a:buFont typeface="Times New Roman"/>
              <a:buChar char="–"/>
            </a:pPr>
            <a:r>
              <a:rPr b="0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DAW's plugin delay compensation (PDC) time-aligns the track </a:t>
            </a:r>
            <a:r>
              <a:rPr lang="en-US" sz="13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0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remote processing becomes transparent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C1414"/>
              </a:buClr>
              <a:buSzPts val="1300"/>
              <a:buFont typeface="Times New Roman"/>
              <a:buChar char="–"/>
            </a:pPr>
            <a:r>
              <a:rPr b="0" i="0" lang="en-US" sz="13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only has to exceed the real round-trip; measure, then tune 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02920" y="33486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PDC timeline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7"/>
          <p:cNvCxnSpPr/>
          <p:nvPr/>
        </p:nvCxnSpPr>
        <p:spPr>
          <a:xfrm>
            <a:off x="548640" y="3933896"/>
            <a:ext cx="4114800" cy="0"/>
          </a:xfrm>
          <a:prstGeom prst="straightConnector1">
            <a:avLst/>
          </a:prstGeom>
          <a:noFill/>
          <a:ln cap="flat" cmpd="sng" w="15875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7"/>
          <p:cNvSpPr/>
          <p:nvPr/>
        </p:nvSpPr>
        <p:spPr>
          <a:xfrm>
            <a:off x="548640" y="3641288"/>
            <a:ext cx="914400" cy="2925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548640" y="3641288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@ 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828800" y="3641288"/>
            <a:ext cx="1097400" cy="292500"/>
          </a:xfrm>
          <a:prstGeom prst="rect">
            <a:avLst/>
          </a:prstGeom>
          <a:solidFill>
            <a:srgbClr val="C3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1828800" y="3641288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DSP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3520440" y="3641288"/>
            <a:ext cx="1143000" cy="2925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3520440" y="3641288"/>
            <a:ext cx="114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@ 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7"/>
          <p:cNvCxnSpPr/>
          <p:nvPr/>
        </p:nvCxnSpPr>
        <p:spPr>
          <a:xfrm>
            <a:off x="548640" y="4144208"/>
            <a:ext cx="4114800" cy="0"/>
          </a:xfrm>
          <a:prstGeom prst="straightConnector1">
            <a:avLst/>
          </a:prstGeom>
          <a:noFill/>
          <a:ln cap="flat" cmpd="sng" w="15875">
            <a:solidFill>
              <a:srgbClr val="C3585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548640" y="417164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950"/>
              <a:buFont typeface="Times New Roman"/>
              <a:buNone/>
            </a:pPr>
            <a:r>
              <a:rPr b="0" i="1" lang="en-US" sz="95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delay L </a:t>
            </a:r>
            <a:r>
              <a:rPr i="1" lang="en-US" sz="95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0" i="1" lang="en-US" sz="95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host PDC shifts the whole track by L</a:t>
            </a:r>
            <a:r>
              <a:rPr i="1" lang="en-US" sz="95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so it is</a:t>
            </a:r>
            <a:r>
              <a:rPr b="0" i="1" lang="en-US" sz="95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time-aligned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892040" y="1050488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300"/>
              <a:buFont typeface="Times New Roman"/>
              <a:buNone/>
            </a:pPr>
            <a:r>
              <a:rPr b="1" i="0" lang="en-US" sz="13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 protocol v2 — every field earns its place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892040" y="1386483"/>
            <a:ext cx="384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v1</a:t>
            </a:r>
            <a:r>
              <a:rPr lang="en-US" sz="105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0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 B (Milestone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892040" y="1605939"/>
            <a:ext cx="6585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892040" y="1605939"/>
            <a:ext cx="65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850"/>
              <a:buFont typeface="Times New Roman"/>
              <a:buNone/>
            </a:pPr>
            <a:r>
              <a:rPr b="0" i="0" lang="en-US" sz="8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'DIST'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550408" y="1605939"/>
            <a:ext cx="3840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550408" y="1605939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850"/>
              <a:buFont typeface="Times New Roman"/>
              <a:buNone/>
            </a:pPr>
            <a:r>
              <a:rPr b="0" i="0" lang="en-US" sz="8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934456" y="1605939"/>
            <a:ext cx="3657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934456" y="1605939"/>
            <a:ext cx="365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850"/>
              <a:buFont typeface="Times New Roman"/>
              <a:buNone/>
            </a:pPr>
            <a:r>
              <a:rPr b="0" i="0" lang="en-US" sz="8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300216" y="1605939"/>
            <a:ext cx="5670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300216" y="1605939"/>
            <a:ext cx="567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850"/>
              <a:buFont typeface="Times New Roman"/>
              <a:buNone/>
            </a:pPr>
            <a:r>
              <a:rPr b="0" i="0" lang="en-US" sz="8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867144" y="1605939"/>
            <a:ext cx="6585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867144" y="1605939"/>
            <a:ext cx="658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850"/>
              <a:buFont typeface="Times New Roman"/>
              <a:buNone/>
            </a:pPr>
            <a:r>
              <a:rPr b="0" i="0" lang="en-US" sz="8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525512" y="1605939"/>
            <a:ext cx="5487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7525512" y="1605939"/>
            <a:ext cx="5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850"/>
              <a:buFont typeface="Times New Roman"/>
              <a:buNone/>
            </a:pPr>
            <a:r>
              <a:rPr b="0" i="0" lang="en-US" sz="8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892040" y="2209443"/>
            <a:ext cx="384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v2</a:t>
            </a:r>
            <a:r>
              <a:rPr lang="en-US" sz="1050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0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36 B (Milestone 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892040" y="2428899"/>
            <a:ext cx="5487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892040" y="2428899"/>
            <a:ext cx="54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0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'DIST'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40680" y="2428899"/>
            <a:ext cx="3291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440680" y="2428899"/>
            <a:ext cx="32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0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769864" y="2428899"/>
            <a:ext cx="3108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769864" y="2428899"/>
            <a:ext cx="31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0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080760" y="2428899"/>
            <a:ext cx="4572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080760" y="2428899"/>
            <a:ext cx="45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0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537960" y="2428899"/>
            <a:ext cx="5304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537960" y="2428899"/>
            <a:ext cx="53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0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068312" y="2428899"/>
            <a:ext cx="457200" cy="384000"/>
          </a:xfrm>
          <a:prstGeom prst="rect">
            <a:avLst/>
          </a:prstGeom>
          <a:solidFill>
            <a:srgbClr val="C35858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068312" y="2428899"/>
            <a:ext cx="45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0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525512" y="2428899"/>
            <a:ext cx="868800" cy="384000"/>
          </a:xfrm>
          <a:prstGeom prst="rect">
            <a:avLst/>
          </a:prstGeom>
          <a:solidFill>
            <a:srgbClr val="4C2222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7525512" y="2428899"/>
            <a:ext cx="868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1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startSample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394192" y="2428899"/>
            <a:ext cx="567000" cy="384000"/>
          </a:xfrm>
          <a:prstGeom prst="rect">
            <a:avLst/>
          </a:prstGeom>
          <a:solidFill>
            <a:srgbClr val="4C2222"/>
          </a:solidFill>
          <a:ln cap="flat" cmpd="sng" w="1270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394192" y="2428899"/>
            <a:ext cx="567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750"/>
              <a:buFont typeface="Times New Roman"/>
              <a:buNone/>
            </a:pPr>
            <a:r>
              <a:rPr b="1" i="0" lang="en-US" sz="75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flags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892040" y="3046928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14"/>
              </a:buClr>
              <a:buSzPts val="1100"/>
              <a:buFont typeface="Times New Roman"/>
              <a:buNone/>
            </a:pPr>
            <a:r>
              <a:rPr b="1"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startSample</a:t>
            </a:r>
            <a:r>
              <a:rPr b="0"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absolute timeline stamp the node echoes back</a:t>
            </a:r>
            <a:r>
              <a:rPr lang="en-US" sz="11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</a:t>
            </a:r>
            <a:r>
              <a:rPr b="0"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anchors each returned packet to the right output sample, regardless of arrival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892040" y="373272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414"/>
              </a:buClr>
              <a:buSzPts val="1100"/>
              <a:buFont typeface="Times New Roman"/>
              <a:buNone/>
            </a:pPr>
            <a:r>
              <a:rPr b="1"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flags</a:t>
            </a:r>
            <a:r>
              <a:rPr b="0"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“processed” direction bit </a:t>
            </a:r>
            <a:r>
              <a:rPr lang="en-US" sz="110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0" i="0" lang="en-US" sz="110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ports: 9000 dry, 9001 processed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892040" y="4162496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2222"/>
              </a:buClr>
              <a:buSzPts val="950"/>
              <a:buFont typeface="Times New Roman"/>
              <a:buNone/>
            </a:pPr>
            <a:r>
              <a:rPr b="0" i="1" lang="en-US" sz="95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payload unchanged: 128 frames/ch interleaved float32 PCM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04011" y="4594402"/>
            <a:ext cx="873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13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is declared and made constant. A fixed, known L </a:t>
            </a:r>
            <a:r>
              <a:rPr b="1" i="1" lang="en-US" sz="12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</a:t>
            </a:r>
            <a:r>
              <a:rPr b="1" i="1" lang="en-US" sz="12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host’s PDC do the alignment for </a:t>
            </a:r>
            <a:r>
              <a:rPr b="1" i="1" lang="en-US" sz="12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additional overhead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Validated: Dry</a:t>
            </a:r>
            <a:r>
              <a:rPr b="1" lang="en-US" sz="25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i="0" lang="en-US" sz="25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DSP</a:t>
            </a:r>
            <a:r>
              <a:rPr b="1" lang="en-US" sz="25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</a:t>
            </a:r>
            <a:r>
              <a:rPr b="1" i="0" lang="en-US" sz="2500" u="none" cap="none" strike="noStrike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Processed Return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8"/>
          <p:cNvGraphicFramePr/>
          <p:nvPr/>
        </p:nvGraphicFramePr>
        <p:xfrm>
          <a:off x="50292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{1419A237-783E-4322-96CC-6717B8DDF061}</a:tableStyleId>
              </a:tblPr>
              <a:tblGrid>
                <a:gridCol w="365750"/>
                <a:gridCol w="1920250"/>
                <a:gridCol w="2606050"/>
                <a:gridCol w="324612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E5CD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CE5C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E5CD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CE5C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E5CD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CE5C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Setup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E5CD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CE5C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2222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Unity-gain round-trip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Loopback, node passes audio through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bit-matches dry, time-aligned</a:t>
                      </a:r>
                      <a:r>
                        <a:rPr lang="en-US" sz="1100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</a:t>
                      </a: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round trip wired correctly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Gain + low-pass round-trip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Loopback, node applies gain + one-pole LPF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is quieter &amp; low-passed </a:t>
                      </a:r>
                      <a:r>
                        <a:rPr lang="en-US" sz="1100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proves it’s the processed return, not the dry signal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Two-machine LAN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Laptop host (Ableton) </a:t>
                      </a:r>
                      <a:r>
                        <a:rPr lang="en-US" sz="1100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</a:t>
                      </a: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PC Python node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Processed audio returns over the network, plays back time-aligned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Underrun behavior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Induce late / lost processed packets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1414"/>
                        </a:buClr>
                        <a:buSzPts val="1100"/>
                        <a:buFont typeface="Times New Roman"/>
                        <a:buNone/>
                      </a:pP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Dry passthrough + count </a:t>
                      </a:r>
                      <a:r>
                        <a:rPr lang="en-US" sz="1100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100" u="none" cap="none" strike="noStrike">
                          <a:solidFill>
                            <a:srgbClr val="2C141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momentary bypass, no click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A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6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8"/>
          <p:cNvSpPr/>
          <p:nvPr/>
        </p:nvSpPr>
        <p:spPr>
          <a:xfrm>
            <a:off x="502920" y="3854016"/>
            <a:ext cx="8138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1414"/>
              </a:buClr>
              <a:buSzPts val="1250"/>
              <a:buFont typeface="Times New Roman"/>
              <a:buChar char="–"/>
            </a:pPr>
            <a:r>
              <a:rPr b="0" i="0" lang="en-US" sz="125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Audible proof: the returned signal comes back quieter, low-passed, and in sync</a:t>
            </a:r>
            <a:r>
              <a:rPr lang="en-US" sz="125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</a:t>
            </a:r>
            <a:r>
              <a:rPr b="0" i="0" lang="en-US" sz="125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hear the remote processing land on the beat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C1414"/>
              </a:buClr>
              <a:buSzPts val="1250"/>
              <a:buFont typeface="Times New Roman"/>
              <a:buChar char="–"/>
            </a:pPr>
            <a:r>
              <a:rPr b="0" i="0" lang="en-US" sz="125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Graceful degradation: late/lost processed packet</a:t>
            </a:r>
            <a:r>
              <a:rPr lang="en-US" sz="125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results in</a:t>
            </a:r>
            <a:r>
              <a:rPr b="0" i="0" lang="en-US" sz="125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5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outputting</a:t>
            </a:r>
            <a:r>
              <a:rPr b="0" i="0" lang="en-US" sz="125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dry audio for that instant </a:t>
            </a:r>
            <a:r>
              <a:rPr lang="en-US" sz="1250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0" lang="en-US" sz="1250" u="none" cap="none" strike="noStrike">
                <a:solidFill>
                  <a:srgbClr val="2C14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 counter, never a silent click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8"/>
          <p:cNvCxnSpPr/>
          <p:nvPr/>
        </p:nvCxnSpPr>
        <p:spPr>
          <a:xfrm>
            <a:off x="548640" y="896112"/>
            <a:ext cx="8092500" cy="0"/>
          </a:xfrm>
          <a:prstGeom prst="straightConnector1">
            <a:avLst/>
          </a:prstGeom>
          <a:noFill/>
          <a:ln cap="flat" cmpd="sng" w="38100">
            <a:solidFill>
              <a:srgbClr val="C3585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3585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50292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 b="0" i="0" sz="3200" u="none" cap="none" strike="noStrike">
              <a:solidFill>
                <a:srgbClr val="FCE5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9"/>
          <p:cNvCxnSpPr/>
          <p:nvPr/>
        </p:nvCxnSpPr>
        <p:spPr>
          <a:xfrm>
            <a:off x="548640" y="896112"/>
            <a:ext cx="8092440" cy="0"/>
          </a:xfrm>
          <a:prstGeom prst="straightConnector1">
            <a:avLst/>
          </a:prstGeom>
          <a:noFill/>
          <a:ln cap="flat" cmpd="sng" w="38100">
            <a:solidFill>
              <a:srgbClr val="4C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9"/>
          <p:cNvSpPr/>
          <p:nvPr/>
        </p:nvSpPr>
        <p:spPr>
          <a:xfrm>
            <a:off x="502920" y="1173480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3</a:t>
            </a:r>
            <a:endParaRPr b="0" i="0" sz="1800" u="none" cap="none" strike="noStrike">
              <a:solidFill>
                <a:srgbClr val="4C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02920" y="15087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 layer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scheduler 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coordinator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C++/JUCE ProcessingNode hosting real, selectable VST3 plugins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TCP control channel 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plugin-scaling parameter UI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LAN peer discovery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800600" y="117348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5858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4C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</a:t>
            </a:r>
            <a:endParaRPr b="0" i="0" sz="1800" u="none" cap="none" strike="noStrike">
              <a:solidFill>
                <a:srgbClr val="4C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800600" y="1305218"/>
            <a:ext cx="3840600" cy="13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TCP-based lossless freeze/flatten (capture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remote process</a:t>
            </a:r>
            <a:r>
              <a:rPr lang="en-US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cache locally)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3E6"/>
              </a:buClr>
              <a:buSzPts val="1400"/>
              <a:buFont typeface="Times New Roman"/>
              <a:buChar char="–"/>
            </a:pPr>
            <a:r>
              <a:rPr b="0" i="0" lang="en-US" sz="1400" u="none" cap="none" strike="noStrike">
                <a:solidFill>
                  <a:srgbClr val="FFF3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tier with license-aware offloading </a:t>
            </a:r>
            <a:endParaRPr b="0" i="0" sz="1400" u="none" cap="none" strike="noStrike">
              <a:solidFill>
                <a:srgbClr val="FFF3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3611880"/>
            <a:ext cx="2514600" cy="1143000"/>
          </a:xfrm>
          <a:prstGeom prst="rect">
            <a:avLst/>
          </a:prstGeom>
          <a:solidFill>
            <a:srgbClr val="4C2222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02920" y="3703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10 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02920" y="4206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Round Trip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Buffer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246120" y="3611880"/>
            <a:ext cx="2514600" cy="1143000"/>
          </a:xfrm>
          <a:prstGeom prst="rect">
            <a:avLst/>
          </a:prstGeom>
          <a:solidFill>
            <a:srgbClr val="4C2222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246120" y="3703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246120" y="4206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989320" y="3611880"/>
            <a:ext cx="2514600" cy="1143000"/>
          </a:xfrm>
          <a:prstGeom prst="rect">
            <a:avLst/>
          </a:prstGeom>
          <a:solidFill>
            <a:srgbClr val="4C2222"/>
          </a:solidFill>
          <a:ln>
            <a:noFill/>
          </a:ln>
          <a:effectLst>
            <a:outerShdw blurRad="63500" rotWithShape="0" algn="bl" dir="2700000" dist="25400">
              <a:srgbClr val="2C1414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989320" y="37033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99%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989320" y="420624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Playback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FCE5C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ctrTitle"/>
          </p:nvPr>
        </p:nvSpPr>
        <p:spPr>
          <a:xfrm>
            <a:off x="544600" y="842712"/>
            <a:ext cx="8366400" cy="2882100"/>
          </a:xfrm>
          <a:prstGeom prst="rect">
            <a:avLst/>
          </a:prstGeom>
          <a:effectLst>
            <a:outerShdw blurRad="342900" rotWithShape="0" algn="bl" dir="5400000" dist="38100">
              <a:srgbClr val="2C1414">
                <a:alpha val="20999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b="1" sz="104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0"/>
          <p:cNvSpPr txBox="1"/>
          <p:nvPr>
            <p:ph idx="1" type="subTitle"/>
          </p:nvPr>
        </p:nvSpPr>
        <p:spPr>
          <a:xfrm>
            <a:off x="544600" y="3912144"/>
            <a:ext cx="4049700" cy="811500"/>
          </a:xfrm>
          <a:prstGeom prst="rect">
            <a:avLst/>
          </a:prstGeom>
          <a:effectLst>
            <a:outerShdw blurRad="342900" rotWithShape="0" algn="bl" dir="5400000" dist="38100">
              <a:srgbClr val="000000">
                <a:alpha val="209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3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  <a:endParaRPr sz="3000">
              <a:solidFill>
                <a:srgbClr val="C358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288100" y="419850"/>
            <a:ext cx="70500" cy="4303800"/>
          </a:xfrm>
          <a:prstGeom prst="rect">
            <a:avLst/>
          </a:prstGeom>
          <a:solidFill>
            <a:srgbClr val="4C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 flipH="1" rot="5400000">
            <a:off x="4612900" y="-172325"/>
            <a:ext cx="27600" cy="8056800"/>
          </a:xfrm>
          <a:prstGeom prst="rect">
            <a:avLst/>
          </a:prstGeom>
          <a:solidFill>
            <a:srgbClr val="C358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